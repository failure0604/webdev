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68" r:id="rId3"/>
    <p:sldId id="387" r:id="rId4"/>
    <p:sldId id="374" r:id="rId5"/>
    <p:sldId id="377" r:id="rId6"/>
    <p:sldId id="375" r:id="rId7"/>
    <p:sldId id="384" r:id="rId8"/>
    <p:sldId id="389" r:id="rId9"/>
    <p:sldId id="388" r:id="rId10"/>
    <p:sldId id="386" r:id="rId11"/>
    <p:sldId id="383" r:id="rId12"/>
    <p:sldId id="385" r:id="rId13"/>
    <p:sldId id="376" r:id="rId14"/>
    <p:sldId id="378" r:id="rId15"/>
    <p:sldId id="379" r:id="rId16"/>
    <p:sldId id="382" r:id="rId17"/>
    <p:sldId id="381" r:id="rId18"/>
    <p:sldId id="390" r:id="rId19"/>
    <p:sldId id="341" r:id="rId20"/>
    <p:sldId id="367" r:id="rId21"/>
    <p:sldId id="312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362F416-ED43-4566-BB0F-137E38F0BD5E}">
          <p14:sldIdLst>
            <p14:sldId id="256"/>
            <p14:sldId id="368"/>
            <p14:sldId id="387"/>
            <p14:sldId id="374"/>
            <p14:sldId id="377"/>
            <p14:sldId id="375"/>
            <p14:sldId id="384"/>
            <p14:sldId id="389"/>
            <p14:sldId id="388"/>
            <p14:sldId id="386"/>
            <p14:sldId id="383"/>
            <p14:sldId id="385"/>
            <p14:sldId id="376"/>
            <p14:sldId id="378"/>
            <p14:sldId id="379"/>
            <p14:sldId id="382"/>
            <p14:sldId id="381"/>
            <p14:sldId id="390"/>
            <p14:sldId id="341"/>
            <p14:sldId id="367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9D9D9"/>
    <a:srgbClr val="F2F2F2"/>
    <a:srgbClr val="1E1E1E"/>
    <a:srgbClr val="B1D581"/>
    <a:srgbClr val="F6D660"/>
    <a:srgbClr val="89CF89"/>
    <a:srgbClr val="F9EAB4"/>
    <a:srgbClr val="FFF2CC"/>
    <a:srgbClr val="88C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4" autoAdjust="0"/>
    <p:restoredTop sz="95820" autoAdjust="0"/>
  </p:normalViewPr>
  <p:slideViewPr>
    <p:cSldViewPr snapToGrid="0">
      <p:cViewPr varScale="1">
        <p:scale>
          <a:sx n="123" d="100"/>
          <a:sy n="123" d="100"/>
        </p:scale>
        <p:origin x="16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1EA05-DCE4-441D-A9E6-4D034D25250E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D7B2F-4617-4A74-808C-1A629B3A9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87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6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39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5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1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0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9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4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19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4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D5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6A0DD-B79F-41A2-8137-7FE4D6F2B9C7}" type="datetimeFigureOut">
              <a:rPr lang="ru-RU" smtClean="0"/>
              <a:t>05.02.2021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://htmlbook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javascript.ru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3443" y="1599681"/>
            <a:ext cx="7783551" cy="4600620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JavaScript</a:t>
            </a:r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Пестунов Андрей Игоревич</a:t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4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заведующий кафедрой информационных технологий</a:t>
            </a: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Лекция </a:t>
            </a:r>
            <a:r>
              <a:rPr lang="en-US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1.</a:t>
            </a: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1. Введение в </a:t>
            </a:r>
            <a:r>
              <a:rPr lang="en-US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JavaScript</a:t>
            </a: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endParaRPr lang="ru-RU" sz="3000" b="1" i="1" dirty="0"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9" name="Picture 2" descr="https://nsuem.ru/local/assets/images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44" y="721343"/>
            <a:ext cx="2308452" cy="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22" y="486935"/>
            <a:ext cx="2427694" cy="11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где набирать код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?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286655"/>
            <a:ext cx="2621280" cy="5198431"/>
          </a:xfrm>
          <a:prstGeom prst="rect">
            <a:avLst/>
          </a:prstGeom>
        </p:spPr>
      </p:pic>
      <p:pic>
        <p:nvPicPr>
          <p:cNvPr id="1026" name="Picture 2" descr="https://notepad-plus-plus.org/assets/images/notepad4ever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967628"/>
            <a:ext cx="3411381" cy="258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65760" y="824167"/>
            <a:ext cx="3863340" cy="716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404040"/>
                </a:solidFill>
              </a:rPr>
              <a:t>notepad-plus-plus.org</a:t>
            </a:r>
            <a:endParaRPr lang="ru-RU" sz="2800" b="1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68189" y="824167"/>
            <a:ext cx="3863340" cy="7169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404040"/>
                </a:solidFill>
              </a:rPr>
              <a:t>code.visualstudio.com</a:t>
            </a:r>
            <a:endParaRPr lang="ru-RU" sz="2800" b="1" dirty="0">
              <a:solidFill>
                <a:srgbClr val="40404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58" y="1699259"/>
            <a:ext cx="3924301" cy="466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онлайн-редакторы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3" y="922675"/>
            <a:ext cx="8208912" cy="340389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79" y="3277434"/>
            <a:ext cx="7355160" cy="314691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3004217" y="1639333"/>
            <a:ext cx="3304533" cy="11640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solidFill>
                  <a:srgbClr val="404040"/>
                </a:solidFill>
              </a:rPr>
              <a:t>jsfiddle.net</a:t>
            </a:r>
            <a:endParaRPr lang="ru-RU" sz="4000" b="1" dirty="0">
              <a:solidFill>
                <a:srgbClr val="40404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220103" y="4502487"/>
            <a:ext cx="6749512" cy="11640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404040"/>
                </a:solidFill>
              </a:rPr>
              <a:t>w3schools.com/html/</a:t>
            </a:r>
          </a:p>
          <a:p>
            <a:pPr algn="ctr"/>
            <a:r>
              <a:rPr lang="en-US" sz="3200" b="1" dirty="0" err="1" smtClean="0">
                <a:solidFill>
                  <a:srgbClr val="404040"/>
                </a:solidFill>
              </a:rPr>
              <a:t>tryit.asp?filename</a:t>
            </a:r>
            <a:r>
              <a:rPr lang="en-US" sz="3200" b="1" dirty="0" smtClean="0">
                <a:solidFill>
                  <a:srgbClr val="404040"/>
                </a:solidFill>
              </a:rPr>
              <a:t>=</a:t>
            </a:r>
            <a:r>
              <a:rPr lang="en-US" sz="3200" b="1" dirty="0" err="1" smtClean="0">
                <a:solidFill>
                  <a:srgbClr val="404040"/>
                </a:solidFill>
              </a:rPr>
              <a:t>tryhtml_intro</a:t>
            </a:r>
            <a:endParaRPr lang="ru-RU" sz="32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80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Скругленный прямоугольник 23"/>
          <p:cNvSpPr/>
          <p:nvPr/>
        </p:nvSpPr>
        <p:spPr>
          <a:xfrm>
            <a:off x="168713" y="3806812"/>
            <a:ext cx="8694420" cy="2842260"/>
          </a:xfrm>
          <a:prstGeom prst="round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98120" y="800100"/>
            <a:ext cx="8694420" cy="2842260"/>
          </a:xfrm>
          <a:prstGeom prst="round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базовая архитектура 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web-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приложений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4" name="Picture 6" descr="Картинки по запросу &quot;html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248" y="1768600"/>
            <a:ext cx="2430793" cy="160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Картинки по запросу &quot;css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890" y="1768600"/>
            <a:ext cx="2430793" cy="160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Картинки по запросу &quot;javascript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02" y="1768600"/>
            <a:ext cx="2428254" cy="159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1141649" y="4777740"/>
            <a:ext cx="3558078" cy="116407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База</a:t>
            </a:r>
            <a:r>
              <a:rPr lang="en-US" sz="2400" b="1" dirty="0">
                <a:solidFill>
                  <a:srgbClr val="404040"/>
                </a:solidFill>
              </a:rPr>
              <a:t> </a:t>
            </a:r>
            <a:r>
              <a:rPr lang="ru-RU" sz="2400" b="1" dirty="0">
                <a:solidFill>
                  <a:srgbClr val="404040"/>
                </a:solidFill>
              </a:rPr>
              <a:t>данных</a:t>
            </a:r>
            <a:endParaRPr lang="en-US" sz="2400" b="1" dirty="0">
              <a:solidFill>
                <a:srgbClr val="404040"/>
              </a:solidFill>
            </a:endParaRPr>
          </a:p>
          <a:p>
            <a:pPr algn="ctr"/>
            <a:r>
              <a:rPr lang="en-US" sz="2400" b="1" dirty="0">
                <a:solidFill>
                  <a:srgbClr val="404040"/>
                </a:solidFill>
              </a:rPr>
              <a:t>MS SQL, MySQL, Oracle, …</a:t>
            </a:r>
            <a:endParaRPr lang="ru-RU" sz="2400" b="1" dirty="0">
              <a:solidFill>
                <a:srgbClr val="404040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173980" y="4777740"/>
            <a:ext cx="3304533" cy="11640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Серверная технология</a:t>
            </a:r>
            <a:endParaRPr lang="en-US" sz="2400" b="1" dirty="0">
              <a:solidFill>
                <a:srgbClr val="404040"/>
              </a:solidFill>
            </a:endParaRPr>
          </a:p>
          <a:p>
            <a:pPr algn="ctr"/>
            <a:r>
              <a:rPr lang="en-US" sz="2400" b="1" dirty="0">
                <a:solidFill>
                  <a:srgbClr val="404040"/>
                </a:solidFill>
              </a:rPr>
              <a:t>PHP, JSP/Servlet, ASP, …</a:t>
            </a:r>
            <a:endParaRPr lang="ru-RU" sz="2400" b="1" dirty="0">
              <a:solidFill>
                <a:srgbClr val="404040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944880" y="988231"/>
            <a:ext cx="7254240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04040"/>
                </a:solidFill>
              </a:rPr>
              <a:t>Front-End (</a:t>
            </a:r>
            <a:r>
              <a:rPr lang="ru-RU" sz="2400" b="1" dirty="0">
                <a:solidFill>
                  <a:srgbClr val="404040"/>
                </a:solidFill>
              </a:rPr>
              <a:t>клиент</a:t>
            </a:r>
            <a:r>
              <a:rPr lang="en-US" sz="2400" b="1" dirty="0">
                <a:solidFill>
                  <a:srgbClr val="404040"/>
                </a:solidFill>
              </a:rPr>
              <a:t>)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944880" y="4017697"/>
            <a:ext cx="7254240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04040"/>
                </a:solidFill>
              </a:rPr>
              <a:t>Back-End</a:t>
            </a:r>
            <a:r>
              <a:rPr lang="ru-RU" sz="2400" b="1" dirty="0">
                <a:solidFill>
                  <a:srgbClr val="404040"/>
                </a:solidFill>
              </a:rPr>
              <a:t> (сервер)</a:t>
            </a:r>
            <a:endParaRPr lang="en-US" sz="24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59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парадигма программирования 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MVC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4" name="Picture 6" descr="Картинки по запросу &quot;html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6" y="2356111"/>
            <a:ext cx="2430793" cy="160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Картинки по запросу &quot;css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890" y="2356110"/>
            <a:ext cx="2430793" cy="160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Картинки по запросу &quot;javascript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844" y="2357784"/>
            <a:ext cx="2428254" cy="159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Прямоугольник 22"/>
          <p:cNvSpPr/>
          <p:nvPr/>
        </p:nvSpPr>
        <p:spPr>
          <a:xfrm>
            <a:off x="888803" y="891281"/>
            <a:ext cx="7254240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404040"/>
                </a:solidFill>
              </a:rPr>
              <a:t>MODEL</a:t>
            </a:r>
            <a:r>
              <a:rPr lang="ru-RU" sz="2400" b="1" dirty="0">
                <a:solidFill>
                  <a:srgbClr val="404040"/>
                </a:solidFill>
              </a:rPr>
              <a:t> </a:t>
            </a:r>
            <a:r>
              <a:rPr lang="en-US" sz="2400" b="1" dirty="0">
                <a:solidFill>
                  <a:srgbClr val="404040"/>
                </a:solidFill>
              </a:rPr>
              <a:t>–</a:t>
            </a:r>
            <a:r>
              <a:rPr lang="ru-RU" sz="2400" b="1" dirty="0">
                <a:solidFill>
                  <a:srgbClr val="404040"/>
                </a:solidFill>
              </a:rPr>
              <a:t> </a:t>
            </a:r>
            <a:r>
              <a:rPr lang="en-US" sz="2400" b="1" dirty="0">
                <a:solidFill>
                  <a:srgbClr val="404040"/>
                </a:solidFill>
              </a:rPr>
              <a:t>VIEW</a:t>
            </a:r>
            <a:r>
              <a:rPr lang="ru-RU" sz="2400" b="1" dirty="0">
                <a:solidFill>
                  <a:srgbClr val="404040"/>
                </a:solidFill>
              </a:rPr>
              <a:t> </a:t>
            </a:r>
            <a:r>
              <a:rPr lang="en-US" sz="2400" b="1" dirty="0">
                <a:solidFill>
                  <a:srgbClr val="404040"/>
                </a:solidFill>
              </a:rPr>
              <a:t>–</a:t>
            </a:r>
            <a:r>
              <a:rPr lang="ru-RU" sz="2400" b="1" dirty="0">
                <a:solidFill>
                  <a:srgbClr val="404040"/>
                </a:solidFill>
              </a:rPr>
              <a:t> </a:t>
            </a:r>
            <a:r>
              <a:rPr lang="en-US" sz="2400" b="1" dirty="0">
                <a:solidFill>
                  <a:srgbClr val="404040"/>
                </a:solidFill>
              </a:rPr>
              <a:t>CONTROLLER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888803" y="1680561"/>
            <a:ext cx="7254240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МОДЕЛЬ – ПРЕДСТАВЛЕНИЕ – ПОВЕДЕНИЕ</a:t>
            </a:r>
            <a:endParaRPr lang="en-US" sz="2400" b="1" dirty="0">
              <a:solidFill>
                <a:srgbClr val="404040"/>
              </a:solidFill>
            </a:endParaRPr>
          </a:p>
        </p:txBody>
      </p:sp>
      <p:pic>
        <p:nvPicPr>
          <p:cNvPr id="3074" name="Picture 2" descr="Картинки по запросу &quot;реьд&quot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6" y="4208526"/>
            <a:ext cx="2968232" cy="177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Картинки по запросу &quot;css code&quot;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510" y="4040885"/>
            <a:ext cx="2919029" cy="210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Картинки по запросу &quot;javascript code&quot;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2781" y="3997537"/>
            <a:ext cx="2908317" cy="213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Прямоугольник 16"/>
          <p:cNvSpPr/>
          <p:nvPr/>
        </p:nvSpPr>
        <p:spPr>
          <a:xfrm>
            <a:off x="265114" y="6155211"/>
            <a:ext cx="2318066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Данные</a:t>
            </a:r>
            <a:endParaRPr lang="en-US" sz="2400" b="1" dirty="0">
              <a:solidFill>
                <a:srgbClr val="404040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139991" y="6155211"/>
            <a:ext cx="2318066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Внешний вид</a:t>
            </a:r>
            <a:endParaRPr lang="en-US" sz="2400" b="1" dirty="0">
              <a:solidFill>
                <a:srgbClr val="40404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315350" y="6155211"/>
            <a:ext cx="2318066" cy="5922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404040"/>
                </a:solidFill>
              </a:rPr>
              <a:t>Действия</a:t>
            </a:r>
            <a:endParaRPr lang="en-US" sz="24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99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javascript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– 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это 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c-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подобный язык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33" y="2363492"/>
            <a:ext cx="6882549" cy="416315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96683" y="811227"/>
            <a:ext cx="2998923" cy="14352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>
                <a:solidFill>
                  <a:srgbClr val="404040"/>
                </a:solidFill>
              </a:rPr>
              <a:t>C</a:t>
            </a:r>
            <a:r>
              <a:rPr lang="ru-RU" sz="2000" b="1" u="sng" dirty="0" smtClean="0">
                <a:solidFill>
                  <a:srgbClr val="404040"/>
                </a:solidFill>
              </a:rPr>
              <a:t>-подобный язык</a:t>
            </a:r>
            <a:r>
              <a:rPr lang="ru-RU" sz="2000" dirty="0" smtClean="0">
                <a:solidFill>
                  <a:srgbClr val="404040"/>
                </a:solidFill>
              </a:rPr>
              <a:t> – это язык, синтаксис </a:t>
            </a:r>
            <a:endParaRPr lang="en-US" sz="2000" dirty="0" smtClean="0">
              <a:solidFill>
                <a:srgbClr val="404040"/>
              </a:solidFill>
            </a:endParaRPr>
          </a:p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которого напоминает язык </a:t>
            </a:r>
            <a:r>
              <a:rPr lang="en-US" sz="2000" dirty="0" smtClean="0">
                <a:solidFill>
                  <a:srgbClr val="404040"/>
                </a:solidFill>
              </a:rPr>
              <a:t>C.</a:t>
            </a:r>
            <a:endParaRPr lang="en-US" sz="2000" dirty="0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515923" y="946827"/>
            <a:ext cx="3304533" cy="116407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404040"/>
                </a:solidFill>
              </a:rPr>
              <a:t>C/C++, PHP</a:t>
            </a:r>
            <a:r>
              <a:rPr lang="en-US" sz="2400" b="1" dirty="0">
                <a:solidFill>
                  <a:srgbClr val="404040"/>
                </a:solidFill>
              </a:rPr>
              <a:t>, </a:t>
            </a:r>
            <a:r>
              <a:rPr lang="en-US" sz="2400" b="1" dirty="0" smtClean="0">
                <a:solidFill>
                  <a:srgbClr val="404040"/>
                </a:solidFill>
              </a:rPr>
              <a:t>Java, C#, JavaScript, …</a:t>
            </a:r>
            <a:endParaRPr lang="ru-RU" sz="24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42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01" y="1658318"/>
            <a:ext cx="8282897" cy="385907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тег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&lt;script&gt;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02314" y="3543746"/>
            <a:ext cx="1747896" cy="309966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07390" y="2363491"/>
            <a:ext cx="1224366" cy="309966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4" name="Прямая соединительная линия 13"/>
          <p:cNvCxnSpPr>
            <a:stCxn id="13" idx="2"/>
          </p:cNvCxnSpPr>
          <p:nvPr/>
        </p:nvCxnSpPr>
        <p:spPr>
          <a:xfrm>
            <a:off x="1619573" y="2673457"/>
            <a:ext cx="0" cy="870289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7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87" y="2656468"/>
            <a:ext cx="8282897" cy="385907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привязка функции к событию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670561" y="5396292"/>
            <a:ext cx="2534100" cy="366593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617162" y="3641402"/>
            <a:ext cx="2758699" cy="860957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4182132" y="4502359"/>
            <a:ext cx="15499" cy="893933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2"/>
          <p:cNvSpPr>
            <a:spLocks noGrp="1"/>
          </p:cNvSpPr>
          <p:nvPr>
            <p:ph idx="1"/>
          </p:nvPr>
        </p:nvSpPr>
        <p:spPr>
          <a:xfrm>
            <a:off x="340164" y="854545"/>
            <a:ext cx="8540363" cy="1801923"/>
          </a:xfrm>
          <a:solidFill>
            <a:srgbClr val="D9D9D9"/>
          </a:solidFill>
        </p:spPr>
        <p:txBody>
          <a:bodyPr>
            <a:normAutofit lnSpcReduction="10000"/>
          </a:bodyPr>
          <a:lstStyle/>
          <a:p>
            <a:r>
              <a:rPr lang="ru-RU" sz="1800" dirty="0" smtClean="0"/>
              <a:t>Функции </a:t>
            </a:r>
            <a:r>
              <a:rPr lang="en-US" sz="1800" dirty="0" smtClean="0"/>
              <a:t>JavaScript </a:t>
            </a:r>
            <a:r>
              <a:rPr lang="ru-RU" sz="1800" dirty="0" smtClean="0"/>
              <a:t>следует привязывать к различным событиям </a:t>
            </a:r>
            <a:r>
              <a:rPr lang="en-US" sz="1800" dirty="0" smtClean="0"/>
              <a:t>HTML-</a:t>
            </a:r>
            <a:r>
              <a:rPr lang="ru-RU" sz="1800" dirty="0" smtClean="0"/>
              <a:t>форм и они будут вызываться.</a:t>
            </a:r>
          </a:p>
          <a:p>
            <a:r>
              <a:rPr lang="ru-RU" sz="1800" dirty="0" smtClean="0"/>
              <a:t>Например, можно указать, что функцию следует вызвать при загрузке страницы, при щелчке клавишей мыши, при изменении значения в некотором поле и т.д.</a:t>
            </a:r>
          </a:p>
          <a:p>
            <a:r>
              <a:rPr lang="ru-RU" sz="1800" dirty="0" smtClean="0"/>
              <a:t>Для этого необходимо создать функцию (внутри тега </a:t>
            </a:r>
            <a:r>
              <a:rPr lang="en-US" sz="1800" dirty="0" smtClean="0"/>
              <a:t>&lt;script&gt;</a:t>
            </a:r>
            <a:r>
              <a:rPr lang="ru-RU" sz="1800" dirty="0" smtClean="0"/>
              <a:t>)</a:t>
            </a:r>
            <a:r>
              <a:rPr lang="en-US" sz="1800" dirty="0" smtClean="0"/>
              <a:t> </a:t>
            </a:r>
            <a:r>
              <a:rPr lang="ru-RU" sz="1800" dirty="0" smtClean="0"/>
              <a:t>и указать, при каком событии ее вызывать.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85279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40" y="2972029"/>
            <a:ext cx="6195048" cy="288632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onclick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840" y="857813"/>
            <a:ext cx="6144843" cy="164516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442958" y="3232238"/>
            <a:ext cx="2002786" cy="14352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Привязываем функцию к событию «</a:t>
            </a:r>
            <a:r>
              <a:rPr lang="en-US" sz="2000" dirty="0" err="1" smtClean="0">
                <a:solidFill>
                  <a:srgbClr val="404040"/>
                </a:solidFill>
              </a:rPr>
              <a:t>onclick</a:t>
            </a:r>
            <a:r>
              <a:rPr lang="ru-RU" sz="2000" dirty="0" smtClean="0">
                <a:solidFill>
                  <a:srgbClr val="404040"/>
                </a:solidFill>
              </a:rPr>
              <a:t>»</a:t>
            </a:r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5835111" y="4605235"/>
            <a:ext cx="662834" cy="373088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340164" y="1571906"/>
            <a:ext cx="2002786" cy="14352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Событие </a:t>
            </a:r>
            <a:r>
              <a:rPr lang="en-US" sz="2000" dirty="0" err="1" smtClean="0">
                <a:solidFill>
                  <a:srgbClr val="404040"/>
                </a:solidFill>
              </a:rPr>
              <a:t>onclick</a:t>
            </a:r>
            <a:r>
              <a:rPr lang="en-US" sz="2000" dirty="0" smtClean="0">
                <a:solidFill>
                  <a:srgbClr val="404040"/>
                </a:solidFill>
              </a:rPr>
              <a:t> </a:t>
            </a:r>
            <a:r>
              <a:rPr lang="ru-RU" sz="2000" dirty="0" smtClean="0">
                <a:solidFill>
                  <a:srgbClr val="404040"/>
                </a:solidFill>
              </a:rPr>
              <a:t>есть практически у всех элементов</a:t>
            </a:r>
            <a:endParaRPr lang="en-US" sz="20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191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селектор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getelementbyid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25" y="889369"/>
            <a:ext cx="7102744" cy="144612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25" y="2484674"/>
            <a:ext cx="7102744" cy="413871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374294" y="5091193"/>
            <a:ext cx="1747896" cy="309966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231397" y="3556861"/>
            <a:ext cx="4424766" cy="309966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4564251" y="3866827"/>
            <a:ext cx="0" cy="1224366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1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1. чередование картинки по клику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38" y="958665"/>
            <a:ext cx="1436048" cy="14203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317" y="956026"/>
            <a:ext cx="1384653" cy="14229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35" y="2640777"/>
            <a:ext cx="7370243" cy="3833041"/>
          </a:xfrm>
          <a:prstGeom prst="rect">
            <a:avLst/>
          </a:prstGeom>
        </p:spPr>
      </p:pic>
      <p:cxnSp>
        <p:nvCxnSpPr>
          <p:cNvPr id="13" name="Прямая со стрелкой 12"/>
          <p:cNvCxnSpPr/>
          <p:nvPr/>
        </p:nvCxnSpPr>
        <p:spPr>
          <a:xfrm flipV="1">
            <a:off x="2573186" y="1317357"/>
            <a:ext cx="3578131" cy="7748"/>
          </a:xfrm>
          <a:prstGeom prst="straightConnector1">
            <a:avLst/>
          </a:prstGeom>
          <a:ln w="38100">
            <a:solidFill>
              <a:srgbClr val="1E1E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 flipV="1">
            <a:off x="2573186" y="1968285"/>
            <a:ext cx="3578131" cy="38746"/>
          </a:xfrm>
          <a:prstGeom prst="straightConnector1">
            <a:avLst/>
          </a:prstGeom>
          <a:ln w="38100">
            <a:solidFill>
              <a:srgbClr val="1E1E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972485" y="3122021"/>
            <a:ext cx="2002786" cy="14352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Вначале устанавливается изображение «</a:t>
            </a:r>
            <a:r>
              <a:rPr lang="en-US" sz="2000" dirty="0" smtClean="0">
                <a:solidFill>
                  <a:srgbClr val="404040"/>
                </a:solidFill>
              </a:rPr>
              <a:t>Happy</a:t>
            </a:r>
            <a:r>
              <a:rPr lang="ru-RU" sz="2000" dirty="0" smtClean="0">
                <a:solidFill>
                  <a:srgbClr val="404040"/>
                </a:solidFill>
              </a:rPr>
              <a:t>»</a:t>
            </a:r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5943601" y="4434813"/>
            <a:ext cx="1139124" cy="1206570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3738505" y="2127546"/>
            <a:ext cx="2002786" cy="14352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Флажок указывает на текущее изображение</a:t>
            </a:r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 flipH="1">
            <a:off x="3277892" y="3440338"/>
            <a:ext cx="570853" cy="62279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2246928" y="4819965"/>
            <a:ext cx="1491577" cy="3967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rgbClr val="404040"/>
                </a:solidFill>
              </a:rPr>
              <a:t>Переменная</a:t>
            </a:r>
            <a:endParaRPr lang="en-US" dirty="0">
              <a:solidFill>
                <a:srgbClr val="404040"/>
              </a:solidFill>
            </a:endParaRPr>
          </a:p>
        </p:txBody>
      </p:sp>
      <p:cxnSp>
        <p:nvCxnSpPr>
          <p:cNvPr id="30" name="Прямая со стрелкой 29"/>
          <p:cNvCxnSpPr/>
          <p:nvPr/>
        </p:nvCxnSpPr>
        <p:spPr>
          <a:xfrm flipH="1" flipV="1">
            <a:off x="1759058" y="4107051"/>
            <a:ext cx="487870" cy="712914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27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260" y="935424"/>
            <a:ext cx="6614517" cy="371210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981" y="78691"/>
            <a:ext cx="8717796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1 (модификация). используем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this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5668556" y="2502665"/>
            <a:ext cx="2613335" cy="96802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«</a:t>
            </a:r>
            <a:r>
              <a:rPr lang="en-US" sz="2000" dirty="0" smtClean="0">
                <a:solidFill>
                  <a:srgbClr val="404040"/>
                </a:solidFill>
              </a:rPr>
              <a:t>this</a:t>
            </a:r>
            <a:r>
              <a:rPr lang="ru-RU" sz="2000" dirty="0" smtClean="0">
                <a:solidFill>
                  <a:srgbClr val="404040"/>
                </a:solidFill>
              </a:rPr>
              <a:t>»</a:t>
            </a:r>
            <a:r>
              <a:rPr lang="ru-RU" sz="2000" dirty="0">
                <a:solidFill>
                  <a:srgbClr val="404040"/>
                </a:solidFill>
              </a:rPr>
              <a:t> </a:t>
            </a:r>
            <a:r>
              <a:rPr lang="ru-RU" sz="2000" dirty="0" smtClean="0">
                <a:solidFill>
                  <a:srgbClr val="404040"/>
                </a:solidFill>
              </a:rPr>
              <a:t>хранит в себе поле со всеми атрибутами</a:t>
            </a:r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5510901" y="3307457"/>
            <a:ext cx="212835" cy="551793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/>
          <p:cNvSpPr/>
          <p:nvPr/>
        </p:nvSpPr>
        <p:spPr>
          <a:xfrm>
            <a:off x="410705" y="1255460"/>
            <a:ext cx="2162812" cy="30220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При передаче его в функцию можно обратиться к любому атрибуту, не прибегая к использованию метода </a:t>
            </a:r>
            <a:r>
              <a:rPr lang="en-US" sz="2000" dirty="0" err="1" smtClean="0">
                <a:solidFill>
                  <a:srgbClr val="404040"/>
                </a:solidFill>
              </a:rPr>
              <a:t>getElementById</a:t>
            </a:r>
            <a:r>
              <a:rPr lang="en-US" sz="2000" dirty="0" smtClean="0">
                <a:solidFill>
                  <a:srgbClr val="404040"/>
                </a:solidFill>
              </a:rPr>
              <a:t>()</a:t>
            </a:r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7" name="Прямая со стрелкой 16"/>
          <p:cNvCxnSpPr>
            <a:stCxn id="26" idx="3"/>
          </p:cNvCxnSpPr>
          <p:nvPr/>
        </p:nvCxnSpPr>
        <p:spPr>
          <a:xfrm>
            <a:off x="2573517" y="2766496"/>
            <a:ext cx="983344" cy="24979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26" idx="3"/>
          </p:cNvCxnSpPr>
          <p:nvPr/>
        </p:nvCxnSpPr>
        <p:spPr>
          <a:xfrm flipV="1">
            <a:off x="2573517" y="2070466"/>
            <a:ext cx="2524540" cy="696030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0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отладка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javascript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-программ в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firefox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39" y="3358455"/>
            <a:ext cx="6725762" cy="3024336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39" y="1126207"/>
            <a:ext cx="6636694" cy="3312368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26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64" y="694239"/>
            <a:ext cx="6425742" cy="347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отладка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javascript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-программ в 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chrome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757" y="1837844"/>
            <a:ext cx="6747137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Прямая со стрелкой 6"/>
          <p:cNvCxnSpPr/>
          <p:nvPr/>
        </p:nvCxnSpPr>
        <p:spPr>
          <a:xfrm flipV="1">
            <a:off x="4234981" y="2053868"/>
            <a:ext cx="4608512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4234981" y="2557924"/>
            <a:ext cx="2016224" cy="1800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3154861" y="2557924"/>
            <a:ext cx="1080120" cy="381642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418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отладка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javascript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-программ в 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explorer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04" y="912519"/>
            <a:ext cx="7125796" cy="544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270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2. создание галереи изображений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48602" y="761485"/>
            <a:ext cx="3451248" cy="1074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404040"/>
                </a:solidFill>
              </a:rPr>
              <a:t>Изображения меняются при нажатии на маленький экземпляр</a:t>
            </a:r>
            <a:endParaRPr lang="en-US" sz="2400" dirty="0">
              <a:solidFill>
                <a:srgbClr val="40404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2" y="1897590"/>
            <a:ext cx="6579581" cy="47851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33" y="998430"/>
            <a:ext cx="3143609" cy="416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9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2 (модификация)</a:t>
            </a:r>
            <a:b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Использование 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аргумента функции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749846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287B48E-DC1E-9E40-98E5-740D64AD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5" y="2171298"/>
            <a:ext cx="7727549" cy="411485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BA893E58-1D8F-C642-AEB5-2ADA81319685}"/>
              </a:ext>
            </a:extLst>
          </p:cNvPr>
          <p:cNvSpPr/>
          <p:nvPr/>
        </p:nvSpPr>
        <p:spPr>
          <a:xfrm>
            <a:off x="5468603" y="1290154"/>
            <a:ext cx="3451248" cy="16399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404040"/>
                </a:solidFill>
              </a:rPr>
              <a:t>Знак «+» для строк работает как конкатенация (объединение)</a:t>
            </a:r>
            <a:endParaRPr lang="en-US" sz="2400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B87FE3C6-0C03-1947-A839-EA73EA56A1CC}"/>
              </a:ext>
            </a:extLst>
          </p:cNvPr>
          <p:cNvSpPr/>
          <p:nvPr/>
        </p:nvSpPr>
        <p:spPr>
          <a:xfrm>
            <a:off x="5468603" y="3671406"/>
            <a:ext cx="3451248" cy="93669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404040"/>
                </a:solidFill>
              </a:rPr>
              <a:t>Передача фактического аргумента функции</a:t>
            </a:r>
            <a:endParaRPr lang="en-US" sz="2400" dirty="0">
              <a:solidFill>
                <a:srgbClr val="404040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="" xmlns:a16="http://schemas.microsoft.com/office/drawing/2014/main" id="{C90445EE-939F-9B49-9A7B-E1CF26E9ECA6}"/>
              </a:ext>
            </a:extLst>
          </p:cNvPr>
          <p:cNvSpPr/>
          <p:nvPr/>
        </p:nvSpPr>
        <p:spPr>
          <a:xfrm>
            <a:off x="1836381" y="1468887"/>
            <a:ext cx="3451248" cy="12223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404040"/>
                </a:solidFill>
              </a:rPr>
              <a:t>Объявление формального аргумента функции</a:t>
            </a:r>
            <a:endParaRPr lang="en-US" sz="24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759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173907"/>
            <a:ext cx="8404859" cy="5543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изменение рамки </a:t>
            </a:r>
            <a:b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выделенного изображения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749846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637" y="1167555"/>
            <a:ext cx="3067967" cy="383495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40162" y="5297837"/>
            <a:ext cx="8222651" cy="369332"/>
          </a:xfrm>
          <a:prstGeom prst="rect">
            <a:avLst/>
          </a:prstGeom>
          <a:solidFill>
            <a:srgbClr val="D9D9D9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40404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(«image</a:t>
            </a:r>
            <a:r>
              <a:rPr lang="ru-RU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»</a:t>
            </a:r>
            <a:r>
              <a:rPr lang="en-US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).</a:t>
            </a:r>
            <a:r>
              <a:rPr lang="en-US" b="1" dirty="0" err="1">
                <a:solidFill>
                  <a:srgbClr val="404040"/>
                </a:solidFill>
                <a:latin typeface="Consolas" panose="020B0609020204030204" pitchFamily="49" charset="0"/>
              </a:rPr>
              <a:t>style.borderColor</a:t>
            </a:r>
            <a:r>
              <a:rPr lang="en-US" b="1" dirty="0">
                <a:solidFill>
                  <a:srgbClr val="404040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«red</a:t>
            </a:r>
            <a:r>
              <a:rPr lang="ru-RU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»</a:t>
            </a:r>
            <a:r>
              <a:rPr lang="en-US" b="1" dirty="0" smtClean="0">
                <a:solidFill>
                  <a:srgbClr val="404040"/>
                </a:solidFill>
                <a:latin typeface="Consolas" panose="020B0609020204030204" pitchFamily="49" charset="0"/>
              </a:rPr>
              <a:t>;</a:t>
            </a:r>
            <a:endParaRPr lang="en-US" b="1" dirty="0">
              <a:solidFill>
                <a:srgbClr val="40404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33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0"/>
            <a:ext cx="8404859" cy="668752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практическое задание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3202" y="538403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12420" y="754380"/>
            <a:ext cx="8747760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Выполните одно из заданий на выбор</a:t>
            </a:r>
          </a:p>
          <a:p>
            <a:pPr algn="ctr"/>
            <a:endParaRPr lang="ru-RU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404040"/>
                </a:solidFill>
              </a:rPr>
              <a:t>Реализуйте </a:t>
            </a:r>
            <a:r>
              <a:rPr lang="ru-RU" b="1" dirty="0">
                <a:solidFill>
                  <a:srgbClr val="404040"/>
                </a:solidFill>
              </a:rPr>
              <a:t>смену </a:t>
            </a:r>
            <a:r>
              <a:rPr lang="ru-RU" b="1" dirty="0" smtClean="0">
                <a:solidFill>
                  <a:srgbClr val="404040"/>
                </a:solidFill>
              </a:rPr>
              <a:t>пяти </a:t>
            </a:r>
            <a:r>
              <a:rPr lang="ru-RU" b="1" dirty="0">
                <a:solidFill>
                  <a:srgbClr val="404040"/>
                </a:solidFill>
              </a:rPr>
              <a:t>картинок</a:t>
            </a:r>
            <a:r>
              <a:rPr lang="ru-RU" dirty="0">
                <a:solidFill>
                  <a:srgbClr val="404040"/>
                </a:solidFill>
              </a:rPr>
              <a:t> по клику </a:t>
            </a:r>
            <a:r>
              <a:rPr lang="ru-RU" dirty="0" smtClean="0">
                <a:solidFill>
                  <a:srgbClr val="404040"/>
                </a:solidFill>
              </a:rPr>
              <a:t>мыши на картинку; при этом рядом должно быть создано текстовое поле, где отображается название картинки синхронно с изменением картинки</a:t>
            </a:r>
          </a:p>
          <a:p>
            <a:pPr marL="514350" indent="-514350">
              <a:buAutoNum type="arabicPeriod"/>
            </a:pPr>
            <a:endParaRPr lang="en-US" dirty="0" smtClean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en-US" dirty="0" smtClean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ru-RU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r>
              <a:rPr lang="ru-RU" b="1" dirty="0" smtClean="0">
                <a:solidFill>
                  <a:srgbClr val="404040"/>
                </a:solidFill>
              </a:rPr>
              <a:t>Усовершенствуйте </a:t>
            </a:r>
            <a:r>
              <a:rPr lang="ru-RU" b="1" dirty="0">
                <a:solidFill>
                  <a:srgbClr val="404040"/>
                </a:solidFill>
              </a:rPr>
              <a:t>галерею фотографий из примера 2.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</a:rPr>
              <a:t>Увеличить число изображений до </a:t>
            </a:r>
            <a:r>
              <a:rPr lang="ru-RU" dirty="0" smtClean="0">
                <a:solidFill>
                  <a:srgbClr val="404040"/>
                </a:solidFill>
              </a:rPr>
              <a:t>4</a:t>
            </a:r>
            <a:endParaRPr lang="ru-RU" dirty="0">
              <a:solidFill>
                <a:srgbClr val="40404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</a:rPr>
              <a:t>При нажатии на большое изображение картинка </a:t>
            </a:r>
            <a:endParaRPr lang="en-US" dirty="0" smtClean="0">
              <a:solidFill>
                <a:srgbClr val="404040"/>
              </a:solidFill>
            </a:endParaRPr>
          </a:p>
          <a:p>
            <a:pPr lvl="1"/>
            <a:r>
              <a:rPr lang="ru-RU" dirty="0" smtClean="0">
                <a:solidFill>
                  <a:srgbClr val="404040"/>
                </a:solidFill>
              </a:rPr>
              <a:t>должна </a:t>
            </a:r>
            <a:r>
              <a:rPr lang="ru-RU" dirty="0">
                <a:solidFill>
                  <a:srgbClr val="404040"/>
                </a:solidFill>
              </a:rPr>
              <a:t>меняться на следующую циклически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</a:rPr>
              <a:t>Рамка выбранного маленького изображения </a:t>
            </a:r>
            <a:endParaRPr lang="en-US" dirty="0" smtClean="0">
              <a:solidFill>
                <a:srgbClr val="404040"/>
              </a:solidFill>
            </a:endParaRPr>
          </a:p>
          <a:p>
            <a:pPr lvl="1"/>
            <a:r>
              <a:rPr lang="ru-RU" dirty="0" smtClean="0">
                <a:solidFill>
                  <a:srgbClr val="404040"/>
                </a:solidFill>
              </a:rPr>
              <a:t>должна </a:t>
            </a:r>
            <a:r>
              <a:rPr lang="ru-RU" dirty="0">
                <a:solidFill>
                  <a:srgbClr val="404040"/>
                </a:solidFill>
              </a:rPr>
              <a:t>менять цвет  </a:t>
            </a:r>
          </a:p>
          <a:p>
            <a:pPr marL="514350" indent="-514350">
              <a:buAutoNum type="arabicPeriod"/>
            </a:pP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316" y="2766446"/>
            <a:ext cx="1079359" cy="11158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776" y="2766447"/>
            <a:ext cx="1166023" cy="12941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669" y="4340397"/>
            <a:ext cx="1711788" cy="213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04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Документация и </a:t>
            </a:r>
            <a:b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справочные материалы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41390" y="1012587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90500" y="1315844"/>
            <a:ext cx="8717280" cy="53973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rgbClr val="404040"/>
                </a:solidFill>
              </a:rPr>
              <a:t>Справочник по </a:t>
            </a:r>
            <a:r>
              <a:rPr lang="en-US" sz="3200" b="1" dirty="0" smtClean="0">
                <a:solidFill>
                  <a:srgbClr val="404040"/>
                </a:solidFill>
              </a:rPr>
              <a:t>HTML </a:t>
            </a:r>
            <a:r>
              <a:rPr lang="ru-RU" sz="3200" b="1" dirty="0" smtClean="0">
                <a:solidFill>
                  <a:srgbClr val="404040"/>
                </a:solidFill>
              </a:rPr>
              <a:t>и </a:t>
            </a:r>
            <a:r>
              <a:rPr lang="en-US" sz="3200" b="1" dirty="0" smtClean="0">
                <a:solidFill>
                  <a:srgbClr val="404040"/>
                </a:solidFill>
              </a:rPr>
              <a:t>CSS</a:t>
            </a:r>
            <a:endParaRPr lang="ru-RU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2"/>
              </a:rPr>
              <a:t>htmlbook.ru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ru-RU" sz="3200" b="1" dirty="0" smtClean="0">
              <a:solidFill>
                <a:srgbClr val="404040"/>
              </a:solidFill>
            </a:endParaRPr>
          </a:p>
          <a:p>
            <a:r>
              <a:rPr lang="ru-RU" sz="3200" b="1" dirty="0" smtClean="0">
                <a:solidFill>
                  <a:srgbClr val="404040"/>
                </a:solidFill>
              </a:rPr>
              <a:t>Учебник по </a:t>
            </a:r>
            <a:r>
              <a:rPr lang="en-US" sz="3200" b="1" dirty="0">
                <a:solidFill>
                  <a:srgbClr val="404040"/>
                </a:solidFill>
              </a:rPr>
              <a:t>HTML </a:t>
            </a:r>
            <a:r>
              <a:rPr lang="ru-RU" sz="3200" b="1" dirty="0">
                <a:solidFill>
                  <a:srgbClr val="404040"/>
                </a:solidFill>
              </a:rPr>
              <a:t>и </a:t>
            </a:r>
            <a:r>
              <a:rPr lang="en-US" sz="3200" b="1" dirty="0">
                <a:solidFill>
                  <a:srgbClr val="404040"/>
                </a:solidFill>
              </a:rPr>
              <a:t>CSS</a:t>
            </a:r>
            <a:endParaRPr lang="ru-RU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3"/>
              </a:rPr>
              <a:t>w3schools.com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ru-RU" sz="3200" dirty="0" smtClean="0">
              <a:solidFill>
                <a:srgbClr val="404040"/>
              </a:solidFill>
            </a:endParaRPr>
          </a:p>
          <a:p>
            <a:r>
              <a:rPr lang="ru-RU" sz="3200" b="1" dirty="0">
                <a:solidFill>
                  <a:srgbClr val="404040"/>
                </a:solidFill>
              </a:rPr>
              <a:t>Учебник по HTML и </a:t>
            </a:r>
            <a:r>
              <a:rPr lang="en-US" sz="3200" b="1" dirty="0" smtClean="0">
                <a:solidFill>
                  <a:srgbClr val="404040"/>
                </a:solidFill>
              </a:rPr>
              <a:t>JavaScript</a:t>
            </a:r>
            <a:endParaRPr lang="en-US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4"/>
              </a:rPr>
              <a:t>learn.javascript.ru</a:t>
            </a:r>
            <a:endParaRPr lang="en-US" sz="3200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02899" y="1508170"/>
            <a:ext cx="7709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69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13358" y="464820"/>
            <a:ext cx="5169622" cy="5966460"/>
          </a:xfrm>
          <a:prstGeom prst="rect">
            <a:avLst/>
          </a:prstGeom>
          <a:solidFill>
            <a:srgbClr val="89CF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6279" y="21790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225969" y="3091298"/>
            <a:ext cx="5227320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 rot="811255">
            <a:off x="7726031" y="1802830"/>
            <a:ext cx="867545" cy="255454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6000" dirty="0">
                <a:solidFill>
                  <a:srgbClr val="F2F2F2"/>
                </a:solidFill>
                <a:latin typeface="Arial Black" panose="020B0A040201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020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4685</TotalTime>
  <Words>379</Words>
  <Application>Microsoft Office PowerPoint</Application>
  <PresentationFormat>Экран (4:3)</PresentationFormat>
  <Paragraphs>77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Aharoni</vt:lpstr>
      <vt:lpstr>Arial</vt:lpstr>
      <vt:lpstr>Arial Black</vt:lpstr>
      <vt:lpstr>Calibri</vt:lpstr>
      <vt:lpstr>Calibri Light</vt:lpstr>
      <vt:lpstr>Consolas</vt:lpstr>
      <vt:lpstr>Тема Office</vt:lpstr>
      <vt:lpstr> JavaScript  Пестунов Андрей Игоревич заведующий кафедрой информационных технологий     Лекция 1.1. Введение в JavaScript   </vt:lpstr>
      <vt:lpstr>где набирать код?</vt:lpstr>
      <vt:lpstr>онлайн-редакторы</vt:lpstr>
      <vt:lpstr>базовая архитектура web-приложений</vt:lpstr>
      <vt:lpstr>парадигма программирования MVC</vt:lpstr>
      <vt:lpstr>javascript – это c-подобный язык</vt:lpstr>
      <vt:lpstr>тег &lt;script&gt;</vt:lpstr>
      <vt:lpstr>привязка функции к событию</vt:lpstr>
      <vt:lpstr>событие onclick</vt:lpstr>
      <vt:lpstr>селектор getelementbyid</vt:lpstr>
      <vt:lpstr>пример 1. чередование картинки по клику</vt:lpstr>
      <vt:lpstr>пример 1 (модификация). используем this</vt:lpstr>
      <vt:lpstr>отладка javascript-программ в firefox</vt:lpstr>
      <vt:lpstr>отладка javascript-программ в chrome</vt:lpstr>
      <vt:lpstr>отладка javascript-программ в explorer</vt:lpstr>
      <vt:lpstr>пример 2. создание галереи изображений </vt:lpstr>
      <vt:lpstr>пример 2 (модификация) Использование аргумента функции </vt:lpstr>
      <vt:lpstr>изменение рамки  выделенного изображения</vt:lpstr>
      <vt:lpstr>практическое задание</vt:lpstr>
      <vt:lpstr>Документация и  справочные материалы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pestunov@gmail.com</dc:creator>
  <cp:lastModifiedBy>Пестунов Андрей Игоревич</cp:lastModifiedBy>
  <cp:revision>1001</cp:revision>
  <dcterms:created xsi:type="dcterms:W3CDTF">2018-10-06T02:43:53Z</dcterms:created>
  <dcterms:modified xsi:type="dcterms:W3CDTF">2021-02-05T14:42:21Z</dcterms:modified>
</cp:coreProperties>
</file>