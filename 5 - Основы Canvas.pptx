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42" r:id="rId3"/>
    <p:sldId id="368" r:id="rId4"/>
    <p:sldId id="369" r:id="rId5"/>
    <p:sldId id="336" r:id="rId6"/>
    <p:sldId id="361" r:id="rId7"/>
    <p:sldId id="362" r:id="rId8"/>
    <p:sldId id="358" r:id="rId9"/>
    <p:sldId id="363" r:id="rId10"/>
    <p:sldId id="359" r:id="rId11"/>
    <p:sldId id="364" r:id="rId12"/>
    <p:sldId id="360" r:id="rId13"/>
    <p:sldId id="366" r:id="rId14"/>
    <p:sldId id="365" r:id="rId15"/>
    <p:sldId id="339" r:id="rId16"/>
    <p:sldId id="341" r:id="rId17"/>
    <p:sldId id="367" r:id="rId18"/>
    <p:sldId id="312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362F416-ED43-4566-BB0F-137E38F0BD5E}">
          <p14:sldIdLst>
            <p14:sldId id="256"/>
            <p14:sldId id="342"/>
            <p14:sldId id="368"/>
            <p14:sldId id="369"/>
            <p14:sldId id="336"/>
            <p14:sldId id="361"/>
            <p14:sldId id="362"/>
            <p14:sldId id="358"/>
            <p14:sldId id="363"/>
            <p14:sldId id="359"/>
            <p14:sldId id="364"/>
            <p14:sldId id="360"/>
            <p14:sldId id="366"/>
            <p14:sldId id="365"/>
            <p14:sldId id="339"/>
            <p14:sldId id="341"/>
            <p14:sldId id="367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2F2F2"/>
    <a:srgbClr val="F6D660"/>
    <a:srgbClr val="89CF89"/>
    <a:srgbClr val="D9D9D9"/>
    <a:srgbClr val="F9EAB4"/>
    <a:srgbClr val="FFF2CC"/>
    <a:srgbClr val="88CE88"/>
    <a:srgbClr val="B1D581"/>
    <a:srgbClr val="4FA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4" autoAdjust="0"/>
    <p:restoredTop sz="96866" autoAdjust="0"/>
  </p:normalViewPr>
  <p:slideViewPr>
    <p:cSldViewPr snapToGrid="0">
      <p:cViewPr varScale="1">
        <p:scale>
          <a:sx n="125" d="100"/>
          <a:sy n="125" d="100"/>
        </p:scale>
        <p:origin x="97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1EA05-DCE4-441D-A9E6-4D034D25250E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D7B2F-4617-4A74-808C-1A629B3A9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87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D7B2F-4617-4A74-808C-1A629B3A91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9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6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39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5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1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0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9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4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19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4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00">
            <a:alpha val="4588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6A0DD-B79F-41A2-8137-7FE4D6F2B9C7}" type="datetimeFigureOut">
              <a:rPr lang="ru-RU" smtClean="0"/>
              <a:t>08.03.2021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3443" y="1599681"/>
            <a:ext cx="7783551" cy="4600620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Практикум по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web-</a:t>
            </a:r>
            <a: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разработке</a:t>
            </a:r>
            <a: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3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3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Пестунов Андрей Игоревич</a:t>
            </a:r>
            <a:r>
              <a:rPr lang="ru-RU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4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заведующий кафедрой информационных технологий</a:t>
            </a:r>
            <a:r>
              <a:rPr lang="ru-RU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Лекция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1.5.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Основы работы с </a:t>
            </a:r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Canvas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endParaRPr lang="ru-RU" sz="3000" b="1" i="1" dirty="0">
              <a:solidFill>
                <a:srgbClr val="FF0000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27" y="286709"/>
            <a:ext cx="1500345" cy="9244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764" y="378912"/>
            <a:ext cx="2156087" cy="74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7" y="204017"/>
            <a:ext cx="8655083" cy="649131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129" y="2822353"/>
            <a:ext cx="2038350" cy="204787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241802" y="80487"/>
            <a:ext cx="5728378" cy="137396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5247811" y="117729"/>
            <a:ext cx="2447879" cy="468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CANVAS</a:t>
            </a:r>
            <a:endParaRPr lang="ru-RU" sz="2400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4162" y="663764"/>
            <a:ext cx="589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HTML-</a:t>
            </a:r>
            <a:r>
              <a:rPr lang="ru-RU" sz="2400" dirty="0" smtClean="0"/>
              <a:t>элемент, позволяющий на нем чертить и рисовать с помощью </a:t>
            </a:r>
            <a:r>
              <a:rPr lang="en-US" sz="2400" dirty="0" smtClean="0"/>
              <a:t>JavaScript</a:t>
            </a:r>
            <a:endParaRPr lang="ru-RU" sz="2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037072" y="541934"/>
            <a:ext cx="2862753" cy="1218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ьная выноска 3"/>
          <p:cNvSpPr/>
          <p:nvPr/>
        </p:nvSpPr>
        <p:spPr>
          <a:xfrm>
            <a:off x="3665220" y="3672840"/>
            <a:ext cx="1905000" cy="1295400"/>
          </a:xfrm>
          <a:prstGeom prst="wedgeEllipseCallout">
            <a:avLst>
              <a:gd name="adj1" fmla="val -70577"/>
              <a:gd name="adj2" fmla="val -61618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lang="en-US" sz="2800" b="1" dirty="0" smtClean="0">
                <a:solidFill>
                  <a:schemeClr val="tx1"/>
                </a:solidFill>
              </a:rPr>
              <a:t>  </a:t>
            </a:r>
            <a:r>
              <a:rPr lang="ru-RU" sz="2800" b="1" dirty="0" smtClean="0">
                <a:solidFill>
                  <a:schemeClr val="tx1"/>
                </a:solidFill>
              </a:rPr>
              <a:t>залить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26" name="Овальная выноска 25"/>
          <p:cNvSpPr/>
          <p:nvPr/>
        </p:nvSpPr>
        <p:spPr>
          <a:xfrm>
            <a:off x="45097" y="1862903"/>
            <a:ext cx="2326163" cy="1295400"/>
          </a:xfrm>
          <a:prstGeom prst="wedgeEllipseCallout">
            <a:avLst>
              <a:gd name="adj1" fmla="val 76502"/>
              <a:gd name="adj2" fmla="val 41323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stroke</a:t>
            </a:r>
            <a:endParaRPr lang="ru-RU" sz="2800" b="1" dirty="0" smtClean="0">
              <a:solidFill>
                <a:srgbClr val="7030A0"/>
              </a:solidFill>
            </a:endParaRPr>
          </a:p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начертить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27" name="Овальная выноска 26"/>
          <p:cNvSpPr/>
          <p:nvPr/>
        </p:nvSpPr>
        <p:spPr>
          <a:xfrm>
            <a:off x="4255896" y="5628529"/>
            <a:ext cx="2628648" cy="1066800"/>
          </a:xfrm>
          <a:prstGeom prst="wedgeEllipseCallout">
            <a:avLst>
              <a:gd name="adj1" fmla="val -70577"/>
              <a:gd name="adj2" fmla="val -61618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canvas</a:t>
            </a:r>
            <a:r>
              <a:rPr lang="en-US" sz="2800" b="1" dirty="0" smtClean="0">
                <a:solidFill>
                  <a:schemeClr val="tx1"/>
                </a:solidFill>
              </a:rPr>
              <a:t>  </a:t>
            </a:r>
            <a:r>
              <a:rPr lang="ru-RU" sz="2800" b="1" dirty="0" smtClean="0">
                <a:solidFill>
                  <a:schemeClr val="tx1"/>
                </a:solidFill>
              </a:rPr>
              <a:t>холст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cxnSp>
        <p:nvCxnSpPr>
          <p:cNvPr id="6" name="Скругленная соединительная линия 5"/>
          <p:cNvCxnSpPr/>
          <p:nvPr/>
        </p:nvCxnSpPr>
        <p:spPr>
          <a:xfrm>
            <a:off x="5631180" y="3543300"/>
            <a:ext cx="1493520" cy="396240"/>
          </a:xfrm>
          <a:prstGeom prst="curvedConnector3">
            <a:avLst>
              <a:gd name="adj1" fmla="val 0"/>
            </a:avLst>
          </a:prstGeom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>
            <a:off x="5561668" y="2699330"/>
            <a:ext cx="2125493" cy="669535"/>
          </a:xfrm>
          <a:prstGeom prst="curvedConnector3">
            <a:avLst>
              <a:gd name="adj1" fmla="val 106644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кругленная соединительная линия 21"/>
          <p:cNvCxnSpPr/>
          <p:nvPr/>
        </p:nvCxnSpPr>
        <p:spPr>
          <a:xfrm>
            <a:off x="6214311" y="3075792"/>
            <a:ext cx="410103" cy="67649"/>
          </a:xfrm>
          <a:prstGeom prst="curvedConnector3">
            <a:avLst>
              <a:gd name="adj1" fmla="val 50000"/>
            </a:avLst>
          </a:prstGeom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93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координатная сетка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canvas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3011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06880" y="1318260"/>
            <a:ext cx="5544000" cy="4572000"/>
          </a:xfrm>
          <a:prstGeom prst="rect">
            <a:avLst/>
          </a:prstGeom>
          <a:solidFill>
            <a:srgbClr val="F6D660"/>
          </a:solidFill>
          <a:ln>
            <a:solidFill>
              <a:srgbClr val="F6D6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1706880" y="1318260"/>
            <a:ext cx="0" cy="4960620"/>
          </a:xfrm>
          <a:prstGeom prst="straightConnector1">
            <a:avLst/>
          </a:prstGeom>
          <a:ln w="1270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1645920" y="1318260"/>
            <a:ext cx="5996940" cy="53340"/>
          </a:xfrm>
          <a:prstGeom prst="straightConnector1">
            <a:avLst/>
          </a:prstGeom>
          <a:ln w="1270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1056650"/>
            <a:ext cx="952500" cy="5232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(0, 0)</a:t>
            </a:r>
            <a:endParaRPr lang="ru-RU" sz="2800" b="1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2743200" y="2786076"/>
            <a:ext cx="1074420" cy="2534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821181" y="2103178"/>
            <a:ext cx="1501140" cy="523220"/>
          </a:xfrm>
          <a:prstGeom prst="rect">
            <a:avLst/>
          </a:prstGeom>
          <a:solidFill>
            <a:srgbClr val="F2F2F2"/>
          </a:solidFill>
          <a:ln>
            <a:solidFill>
              <a:srgbClr val="F6D6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(50, 100)</a:t>
            </a:r>
            <a:endParaRPr lang="ru-RU" sz="2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93820" y="2262856"/>
            <a:ext cx="1684020" cy="523220"/>
          </a:xfrm>
          <a:prstGeom prst="rect">
            <a:avLst/>
          </a:prstGeom>
          <a:solidFill>
            <a:srgbClr val="F2F2F2"/>
          </a:solidFill>
          <a:ln>
            <a:solidFill>
              <a:srgbClr val="F6D6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</a:t>
            </a:r>
            <a:r>
              <a:rPr lang="ru-RU" sz="2800" b="1" dirty="0" smtClean="0"/>
              <a:t>1</a:t>
            </a:r>
            <a:r>
              <a:rPr lang="en-US" sz="2800" b="1" dirty="0" smtClean="0"/>
              <a:t>0</a:t>
            </a:r>
            <a:r>
              <a:rPr lang="ru-RU" sz="2800" b="1" dirty="0" smtClean="0"/>
              <a:t>0</a:t>
            </a:r>
            <a:r>
              <a:rPr lang="en-US" sz="2800" b="1" dirty="0" smtClean="0"/>
              <a:t>, 100)</a:t>
            </a:r>
            <a:endParaRPr lang="ru-RU" sz="2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954780" y="5058742"/>
            <a:ext cx="1684020" cy="523220"/>
          </a:xfrm>
          <a:prstGeom prst="rect">
            <a:avLst/>
          </a:prstGeom>
          <a:solidFill>
            <a:srgbClr val="F2F2F2"/>
          </a:solidFill>
          <a:ln>
            <a:solidFill>
              <a:srgbClr val="F6D6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</a:t>
            </a:r>
            <a:r>
              <a:rPr lang="ru-RU" sz="2800" b="1" dirty="0" smtClean="0"/>
              <a:t>1</a:t>
            </a:r>
            <a:r>
              <a:rPr lang="en-US" sz="2800" b="1" dirty="0" smtClean="0"/>
              <a:t>0</a:t>
            </a:r>
            <a:r>
              <a:rPr lang="ru-RU" sz="2800" b="1" dirty="0" smtClean="0"/>
              <a:t>0</a:t>
            </a:r>
            <a:r>
              <a:rPr lang="en-US" sz="2800" b="1" dirty="0" smtClean="0"/>
              <a:t>, </a:t>
            </a:r>
            <a:r>
              <a:rPr lang="ru-RU" sz="2800" b="1" dirty="0" smtClean="0"/>
              <a:t>5</a:t>
            </a:r>
            <a:r>
              <a:rPr lang="en-US" sz="2800" b="1" dirty="0" smtClean="0"/>
              <a:t>00)</a:t>
            </a:r>
            <a:endParaRPr lang="ru-RU" sz="2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844041" y="4669639"/>
            <a:ext cx="1684020" cy="523220"/>
          </a:xfrm>
          <a:prstGeom prst="rect">
            <a:avLst/>
          </a:prstGeom>
          <a:solidFill>
            <a:srgbClr val="F2F2F2"/>
          </a:solidFill>
          <a:ln>
            <a:solidFill>
              <a:srgbClr val="F6D6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</a:t>
            </a:r>
            <a:r>
              <a:rPr lang="ru-RU" sz="2800" b="1" dirty="0" smtClean="0"/>
              <a:t>50</a:t>
            </a:r>
            <a:r>
              <a:rPr lang="en-US" sz="2800" b="1" dirty="0" smtClean="0"/>
              <a:t>, </a:t>
            </a:r>
            <a:r>
              <a:rPr lang="ru-RU" sz="2800" b="1" dirty="0" smtClean="0"/>
              <a:t>5</a:t>
            </a:r>
            <a:r>
              <a:rPr lang="en-US" sz="2800" b="1" dirty="0" smtClean="0"/>
              <a:t>00)</a:t>
            </a:r>
            <a:endParaRPr lang="ru-RU" sz="2800" b="1" dirty="0"/>
          </a:p>
        </p:txBody>
      </p:sp>
      <p:sp>
        <p:nvSpPr>
          <p:cNvPr id="25" name="Овал 24"/>
          <p:cNvSpPr/>
          <p:nvPr/>
        </p:nvSpPr>
        <p:spPr>
          <a:xfrm>
            <a:off x="3741420" y="2727960"/>
            <a:ext cx="152400" cy="12954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2655571" y="2721306"/>
            <a:ext cx="152400" cy="12954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3726180" y="5240966"/>
            <a:ext cx="152400" cy="12954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2655571" y="5255582"/>
            <a:ext cx="152400" cy="12954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6324824" y="4387326"/>
            <a:ext cx="2244092" cy="1384995"/>
          </a:xfrm>
          <a:prstGeom prst="rect">
            <a:avLst/>
          </a:prstGeom>
          <a:solidFill>
            <a:srgbClr val="F2F2F2"/>
          </a:solidFill>
          <a:ln>
            <a:solidFill>
              <a:srgbClr val="F6D6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404040"/>
                </a:solidFill>
              </a:rPr>
              <a:t>Задается при создании </a:t>
            </a:r>
            <a:r>
              <a:rPr lang="en-US" sz="2800" b="1" dirty="0" smtClean="0">
                <a:solidFill>
                  <a:srgbClr val="404040"/>
                </a:solidFill>
              </a:rPr>
              <a:t>Canvas</a:t>
            </a:r>
            <a:endParaRPr lang="ru-RU" sz="2800" b="1" dirty="0">
              <a:solidFill>
                <a:srgbClr val="404040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159440" y="5825490"/>
            <a:ext cx="152400" cy="12954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735" y="2768618"/>
            <a:ext cx="3182491" cy="167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Два подхода к рисованию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/>
            </a:r>
            <a:b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объектов на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canvas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97977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297180" y="1110541"/>
            <a:ext cx="3863340" cy="1343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u="sng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Подход 1</a:t>
            </a:r>
          </a:p>
          <a:p>
            <a:pPr algn="ctr"/>
            <a:endParaRPr lang="ru-RU" sz="2000" b="1" u="sng" dirty="0" smtClean="0">
              <a:solidFill>
                <a:srgbClr val="404040"/>
              </a:solidFill>
              <a:latin typeface="Arial Black" panose="020B0A04020102020204" pitchFamily="34" charset="0"/>
            </a:endParaRP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Непосредственное рисование</a:t>
            </a:r>
            <a:endParaRPr lang="ru-RU" sz="2000" dirty="0">
              <a:solidFill>
                <a:srgbClr val="404040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4305300" y="1110540"/>
            <a:ext cx="4632959" cy="1343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u="sng" dirty="0">
                <a:solidFill>
                  <a:srgbClr val="404040"/>
                </a:solidFill>
                <a:latin typeface="Arial Black" panose="020B0A04020102020204" pitchFamily="34" charset="0"/>
              </a:rPr>
              <a:t>Подход </a:t>
            </a:r>
            <a:r>
              <a:rPr lang="en-US" sz="2000" b="1" u="sng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2</a:t>
            </a:r>
            <a:endParaRPr lang="ru-RU" sz="2000" b="1" u="sng" dirty="0" smtClean="0">
              <a:solidFill>
                <a:srgbClr val="404040"/>
              </a:solidFill>
              <a:latin typeface="Arial Black" panose="020B0A04020102020204" pitchFamily="34" charset="0"/>
            </a:endParaRPr>
          </a:p>
          <a:p>
            <a:pPr algn="ctr"/>
            <a:endParaRPr lang="ru-RU" sz="2000" b="1" u="sng" dirty="0">
              <a:solidFill>
                <a:srgbClr val="404040"/>
              </a:solidFill>
              <a:latin typeface="Arial Black" panose="020B0A04020102020204" pitchFamily="34" charset="0"/>
            </a:endParaRP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Виртуальное перо и </a:t>
            </a: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создание пути (контура)</a:t>
            </a:r>
            <a:endParaRPr lang="ru-RU" sz="2000" dirty="0" smtClean="0">
              <a:solidFill>
                <a:srgbClr val="404040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297180" y="2518737"/>
            <a:ext cx="3862413" cy="1464188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7030A0"/>
                </a:solidFill>
              </a:rPr>
              <a:t>Фигура отображается </a:t>
            </a:r>
            <a:endParaRPr lang="ru-RU" sz="2400" b="1" dirty="0" smtClean="0">
              <a:solidFill>
                <a:srgbClr val="7030A0"/>
              </a:solidFill>
            </a:endParaRPr>
          </a:p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сразу </a:t>
            </a:r>
            <a:r>
              <a:rPr lang="ru-RU" sz="2400" b="1" dirty="0">
                <a:solidFill>
                  <a:srgbClr val="7030A0"/>
                </a:solidFill>
              </a:rPr>
              <a:t>после вызова соответствующей команды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4305299" y="2518737"/>
            <a:ext cx="4632959" cy="1472880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Фигуры рисуются виртуальным пером и добавляются в контур. Контур отображается после вызова специальной команды.</a:t>
            </a:r>
            <a:endParaRPr lang="en-US" sz="2400" b="1" dirty="0">
              <a:solidFill>
                <a:srgbClr val="7030A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9" y="4048022"/>
            <a:ext cx="3862413" cy="26513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170" y="4471058"/>
            <a:ext cx="1420495" cy="213074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34" y="4068459"/>
            <a:ext cx="2567941" cy="2630881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995" y="5383899"/>
            <a:ext cx="946292" cy="950714"/>
          </a:xfrm>
          <a:prstGeom prst="rect">
            <a:avLst/>
          </a:prstGeom>
        </p:spPr>
      </p:pic>
      <p:sp>
        <p:nvSpPr>
          <p:cNvPr id="42" name="Скругленный прямоугольник 41"/>
          <p:cNvSpPr/>
          <p:nvPr/>
        </p:nvSpPr>
        <p:spPr>
          <a:xfrm>
            <a:off x="4862106" y="4097536"/>
            <a:ext cx="1623061" cy="275492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Скругленный прямоугольник 42"/>
          <p:cNvSpPr/>
          <p:nvPr/>
        </p:nvSpPr>
        <p:spPr>
          <a:xfrm>
            <a:off x="4862107" y="6326308"/>
            <a:ext cx="1623061" cy="275492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8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451441" y="-72816"/>
            <a:ext cx="8404859" cy="1241109"/>
          </a:xfrm>
        </p:spPr>
        <p:txBody>
          <a:bodyPr>
            <a:normAutofit/>
          </a:bodyPr>
          <a:lstStyle/>
          <a:p>
            <a:pPr algn="ctr"/>
            <a:r>
              <a:rPr lang="ru-RU" sz="3000" b="1" cap="all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Базовая функциональность</a:t>
            </a:r>
            <a:br>
              <a:rPr lang="ru-RU" sz="3000" b="1" cap="all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000" b="1" cap="all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что-то нарисовать</a:t>
            </a:r>
            <a:endParaRPr lang="ru-RU" sz="3000" b="1" cap="all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2091" y="1005448"/>
            <a:ext cx="6927389" cy="1628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1" y="1303517"/>
            <a:ext cx="7560435" cy="511828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64" y="629504"/>
            <a:ext cx="2095500" cy="2085975"/>
          </a:xfrm>
          <a:prstGeom prst="rect">
            <a:avLst/>
          </a:prstGeom>
        </p:spPr>
      </p:pic>
      <p:sp>
        <p:nvSpPr>
          <p:cNvPr id="15" name="Овальная выноска 14"/>
          <p:cNvSpPr/>
          <p:nvPr/>
        </p:nvSpPr>
        <p:spPr>
          <a:xfrm>
            <a:off x="3137356" y="1224803"/>
            <a:ext cx="4816062" cy="1295400"/>
          </a:xfrm>
          <a:prstGeom prst="wedgeEllipseCallout">
            <a:avLst>
              <a:gd name="adj1" fmla="val -50905"/>
              <a:gd name="adj2" fmla="val 51805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404040"/>
                </a:solidFill>
              </a:rPr>
              <a:t>Создать </a:t>
            </a:r>
            <a:r>
              <a:rPr lang="ru-RU" sz="2800" b="1" dirty="0">
                <a:solidFill>
                  <a:srgbClr val="404040"/>
                </a:solidFill>
              </a:rPr>
              <a:t>функцию для рисования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16" name="Овальная выноска 15"/>
          <p:cNvSpPr/>
          <p:nvPr/>
        </p:nvSpPr>
        <p:spPr>
          <a:xfrm>
            <a:off x="4199266" y="5475359"/>
            <a:ext cx="4307533" cy="1295400"/>
          </a:xfrm>
          <a:prstGeom prst="wedgeEllipseCallout">
            <a:avLst>
              <a:gd name="adj1" fmla="val -95182"/>
              <a:gd name="adj2" fmla="val -60412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404040"/>
                </a:solidFill>
              </a:rPr>
              <a:t>Создать </a:t>
            </a:r>
            <a:r>
              <a:rPr lang="ru-RU" sz="2800" b="1" dirty="0">
                <a:solidFill>
                  <a:srgbClr val="404040"/>
                </a:solidFill>
              </a:rPr>
              <a:t>элемент </a:t>
            </a:r>
            <a:r>
              <a:rPr lang="en-US" sz="2800" b="1" dirty="0">
                <a:solidFill>
                  <a:srgbClr val="404040"/>
                </a:solidFill>
              </a:rPr>
              <a:t>Canvas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17" name="Овальная выноска 16"/>
          <p:cNvSpPr/>
          <p:nvPr/>
        </p:nvSpPr>
        <p:spPr>
          <a:xfrm>
            <a:off x="4704862" y="3545357"/>
            <a:ext cx="4355318" cy="1295400"/>
          </a:xfrm>
          <a:prstGeom prst="wedgeEllipseCallout">
            <a:avLst>
              <a:gd name="adj1" fmla="val -81285"/>
              <a:gd name="adj2" fmla="val 48790"/>
            </a:avLst>
          </a:prstGeom>
          <a:solidFill>
            <a:srgbClr val="F6D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404040"/>
                </a:solidFill>
              </a:rPr>
              <a:t>Вызвать функцию рисования</a:t>
            </a:r>
            <a:endParaRPr lang="en-US" sz="2800" b="1" dirty="0">
              <a:solidFill>
                <a:srgbClr val="404040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047631" y="2813538"/>
            <a:ext cx="5556738" cy="586154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ьная выноска 17"/>
          <p:cNvSpPr/>
          <p:nvPr/>
        </p:nvSpPr>
        <p:spPr>
          <a:xfrm>
            <a:off x="42400" y="2732880"/>
            <a:ext cx="2005231" cy="651181"/>
          </a:xfrm>
          <a:prstGeom prst="wedgeEllipseCallout">
            <a:avLst>
              <a:gd name="adj1" fmla="val 57835"/>
              <a:gd name="adj2" fmla="val 8598"/>
            </a:avLst>
          </a:prstGeom>
          <a:solidFill>
            <a:srgbClr val="FF0000">
              <a:alpha val="59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1"/>
                </a:solidFill>
              </a:rPr>
              <a:t>«Шапка»</a:t>
            </a:r>
            <a:endParaRPr 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6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Прямоугольники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 заливкой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3011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" y="1591576"/>
            <a:ext cx="7854866" cy="457080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811779" y="1085164"/>
            <a:ext cx="6248401" cy="96329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7030A0"/>
                </a:solidFill>
              </a:rPr>
              <a:t>Прямоугольник с заливкой</a:t>
            </a: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ctx.fillRect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(x, y, width, height);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54" y="2872132"/>
            <a:ext cx="2296565" cy="2307297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313139" y="5767161"/>
            <a:ext cx="4455354" cy="96329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7030A0"/>
                </a:solidFill>
              </a:rPr>
              <a:t>Установить цвет заливки</a:t>
            </a:r>
          </a:p>
          <a:p>
            <a:pPr algn="ctr"/>
            <a:r>
              <a:rPr lang="en-US" sz="2400" b="1" dirty="0" err="1">
                <a:solidFill>
                  <a:srgbClr val="404040"/>
                </a:solidFill>
                <a:latin typeface="Consolas" panose="020B0609020204030204" pitchFamily="49" charset="0"/>
              </a:rPr>
              <a:t>ctx.fillStyle</a:t>
            </a:r>
            <a:r>
              <a:rPr lang="en-US" sz="2400" b="1" dirty="0">
                <a:solidFill>
                  <a:srgbClr val="404040"/>
                </a:solidFill>
                <a:latin typeface="Consolas" panose="020B0609020204030204" pitchFamily="49" charset="0"/>
              </a:rPr>
              <a:t> = 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‘color';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98890" y="2050036"/>
            <a:ext cx="7254527" cy="731263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99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4" y="1785044"/>
            <a:ext cx="6432700" cy="481675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Прямоугольники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без заливки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3011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811779" y="1085164"/>
            <a:ext cx="6248401" cy="96329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7030A0"/>
                </a:solidFill>
              </a:rPr>
              <a:t>Прямоугольник </a:t>
            </a:r>
            <a:r>
              <a:rPr lang="ru-RU" sz="2800" b="1" dirty="0" smtClean="0">
                <a:solidFill>
                  <a:srgbClr val="7030A0"/>
                </a:solidFill>
              </a:rPr>
              <a:t>без заливки</a:t>
            </a:r>
            <a:endParaRPr lang="ru-RU" sz="28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ctx.strokeRect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(x, y, width, height);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4440703" y="4193422"/>
            <a:ext cx="4619477" cy="96329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7030A0"/>
                </a:solidFill>
              </a:rPr>
              <a:t>Установить цвет </a:t>
            </a:r>
            <a:r>
              <a:rPr lang="ru-RU" sz="2800" b="1" dirty="0" smtClean="0">
                <a:solidFill>
                  <a:srgbClr val="7030A0"/>
                </a:solidFill>
              </a:rPr>
              <a:t>линии</a:t>
            </a:r>
            <a:endParaRPr lang="ru-RU" sz="28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ctx.strokeStyle</a:t>
            </a:r>
            <a:r>
              <a:rPr lang="en-US" sz="2400" b="1" dirty="0">
                <a:solidFill>
                  <a:srgbClr val="404040"/>
                </a:solidFill>
                <a:latin typeface="Consolas" panose="020B0609020204030204" pitchFamily="49" charset="0"/>
              </a:rPr>
              <a:t> = 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‘color';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830" y="2177729"/>
            <a:ext cx="2038350" cy="205740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440703" y="5248191"/>
            <a:ext cx="4619477" cy="963295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</a:rPr>
              <a:t>Установить толщину линии</a:t>
            </a:r>
            <a:endParaRPr lang="ru-RU" sz="28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ctx.lineWidth</a:t>
            </a:r>
            <a:r>
              <a:rPr lang="en-US" sz="2400" b="1" dirty="0">
                <a:solidFill>
                  <a:srgbClr val="404040"/>
                </a:solidFill>
                <a:latin typeface="Consolas" panose="020B0609020204030204" pitchFamily="49" charset="0"/>
              </a:rPr>
              <a:t> = 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width;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49337" y="2088681"/>
            <a:ext cx="6058143" cy="624039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60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004033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рисование Линий (без заливки контура)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2429" y="58203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611027" y="4507141"/>
            <a:ext cx="4296752" cy="1769812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Добавить линию от текущего положения до указанного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и переместить курсор в него</a:t>
            </a:r>
            <a:endParaRPr lang="ru-RU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ctx.lineTo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(x, y);</a:t>
            </a:r>
            <a:endParaRPr lang="en-US" sz="24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611027" y="3161525"/>
            <a:ext cx="4296752" cy="1201724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Переместить курсор </a:t>
            </a:r>
          </a:p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на указанные координаты</a:t>
            </a:r>
            <a:endParaRPr lang="ru-RU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ctx.moveTo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(x, y);</a:t>
            </a:r>
            <a:endParaRPr lang="en-US" sz="24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66700" y="820956"/>
            <a:ext cx="3810606" cy="2224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Алгоритм </a:t>
            </a: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рисования </a:t>
            </a: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линий</a:t>
            </a:r>
            <a:endParaRPr lang="ru-RU" sz="2000" b="1" dirty="0">
              <a:solidFill>
                <a:srgbClr val="404040"/>
              </a:solidFill>
              <a:latin typeface="Arial Black" panose="020B0A040201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smtClean="0">
                <a:solidFill>
                  <a:srgbClr val="404040"/>
                </a:solidFill>
              </a:rPr>
              <a:t>Создать новый путь (контур)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smtClean="0">
                <a:solidFill>
                  <a:srgbClr val="404040"/>
                </a:solidFill>
              </a:rPr>
              <a:t>Добавить линии в этот путь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smtClean="0">
                <a:solidFill>
                  <a:srgbClr val="404040"/>
                </a:solidFill>
              </a:rPr>
              <a:t>Отобразить путь</a:t>
            </a:r>
            <a:endParaRPr lang="ru-RU" sz="2000" dirty="0">
              <a:solidFill>
                <a:srgbClr val="40404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363792" y="820956"/>
            <a:ext cx="4543987" cy="2224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Подход к </a:t>
            </a: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добавлению </a:t>
            </a:r>
          </a:p>
          <a:p>
            <a:pPr algn="ctr"/>
            <a:r>
              <a:rPr lang="ru-RU" sz="2000" b="1" dirty="0" smtClean="0">
                <a:solidFill>
                  <a:srgbClr val="404040"/>
                </a:solidFill>
                <a:latin typeface="Arial Black" panose="020B0A04020102020204" pitchFamily="34" charset="0"/>
              </a:rPr>
              <a:t>линий в путь</a:t>
            </a:r>
            <a:endParaRPr lang="ru-RU" sz="2000" b="1" dirty="0">
              <a:solidFill>
                <a:srgbClr val="404040"/>
              </a:solidFill>
              <a:latin typeface="Arial Black" panose="020B0A040201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smtClean="0">
                <a:solidFill>
                  <a:srgbClr val="404040"/>
                </a:solidFill>
              </a:rPr>
              <a:t>Переместить курсор в текущее положение (</a:t>
            </a:r>
            <a:r>
              <a:rPr lang="en-US" sz="2000" dirty="0" err="1" smtClean="0">
                <a:solidFill>
                  <a:srgbClr val="404040"/>
                </a:solidFill>
              </a:rPr>
              <a:t>moveTo</a:t>
            </a:r>
            <a:r>
              <a:rPr lang="ru-RU" sz="2000" dirty="0" smtClean="0">
                <a:solidFill>
                  <a:srgbClr val="404040"/>
                </a:solidFill>
              </a:rPr>
              <a:t>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smtClean="0">
                <a:solidFill>
                  <a:srgbClr val="404040"/>
                </a:solidFill>
              </a:rPr>
              <a:t>Добавить линию от текущего положения до указанного</a:t>
            </a:r>
            <a:r>
              <a:rPr lang="en-US" sz="2000" dirty="0" smtClean="0">
                <a:solidFill>
                  <a:srgbClr val="404040"/>
                </a:solidFill>
              </a:rPr>
              <a:t> (</a:t>
            </a:r>
            <a:r>
              <a:rPr lang="en-US" sz="2000" dirty="0" err="1" smtClean="0">
                <a:solidFill>
                  <a:srgbClr val="404040"/>
                </a:solidFill>
              </a:rPr>
              <a:t>lineTo</a:t>
            </a:r>
            <a:r>
              <a:rPr lang="en-US" sz="2000" dirty="0" smtClean="0">
                <a:solidFill>
                  <a:srgbClr val="404040"/>
                </a:solidFill>
              </a:rPr>
              <a:t>)</a:t>
            </a:r>
            <a:endParaRPr lang="ru-RU" sz="2000" dirty="0" smtClean="0">
              <a:solidFill>
                <a:srgbClr val="404040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66700" y="2209800"/>
            <a:ext cx="3590147" cy="388619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право 2"/>
          <p:cNvSpPr/>
          <p:nvPr/>
        </p:nvSpPr>
        <p:spPr>
          <a:xfrm>
            <a:off x="3774977" y="2306722"/>
            <a:ext cx="558942" cy="2234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176027" y="3237328"/>
            <a:ext cx="4296752" cy="1125921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Создать новый путь (удалить добавленные ранее линии) </a:t>
            </a: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ctx.beginPath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();</a:t>
            </a:r>
            <a:endParaRPr lang="en-US" sz="24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76027" y="4507141"/>
            <a:ext cx="4296752" cy="1238339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Отобразить добавленные в путь линии</a:t>
            </a: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ctx.stroke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();</a:t>
            </a:r>
            <a:endParaRPr lang="en-US" sz="24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2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004033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черчение Линий (без заливки)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–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624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1072"/>
            <a:ext cx="6358865" cy="400716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86370"/>
            <a:ext cx="1095375" cy="110490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077113" y="2099786"/>
            <a:ext cx="4543987" cy="17297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Метод </a:t>
            </a:r>
            <a:r>
              <a:rPr lang="en-US" sz="2400" b="1" dirty="0" smtClean="0">
                <a:solidFill>
                  <a:srgbClr val="404040"/>
                </a:solidFill>
              </a:rPr>
              <a:t>stroke(</a:t>
            </a:r>
            <a:r>
              <a:rPr lang="ru-RU" sz="2400" b="1" dirty="0" smtClean="0">
                <a:solidFill>
                  <a:srgbClr val="404040"/>
                </a:solidFill>
              </a:rPr>
              <a:t>)</a:t>
            </a:r>
            <a:r>
              <a:rPr lang="en-US" sz="2400" dirty="0" smtClean="0">
                <a:solidFill>
                  <a:srgbClr val="404040"/>
                </a:solidFill>
              </a:rPr>
              <a:t> </a:t>
            </a:r>
            <a:r>
              <a:rPr lang="ru-RU" sz="2400" dirty="0" smtClean="0">
                <a:solidFill>
                  <a:srgbClr val="404040"/>
                </a:solidFill>
              </a:rPr>
              <a:t>отображает все линии, добавленные в путь (контур), начиная с ближайшего вызова метода </a:t>
            </a:r>
            <a:r>
              <a:rPr lang="en-US" sz="2400" b="1" dirty="0" err="1" smtClean="0">
                <a:solidFill>
                  <a:srgbClr val="404040"/>
                </a:solidFill>
              </a:rPr>
              <a:t>beginPath</a:t>
            </a:r>
            <a:r>
              <a:rPr lang="en-US" sz="2400" b="1" dirty="0" smtClean="0">
                <a:solidFill>
                  <a:srgbClr val="404040"/>
                </a:solidFill>
              </a:rPr>
              <a:t>()</a:t>
            </a:r>
            <a:r>
              <a:rPr lang="ru-RU" sz="2400" b="1" dirty="0" smtClean="0">
                <a:solidFill>
                  <a:srgbClr val="404040"/>
                </a:solidFill>
              </a:rPr>
              <a:t> </a:t>
            </a:r>
          </a:p>
        </p:txBody>
      </p:sp>
      <p:sp>
        <p:nvSpPr>
          <p:cNvPr id="14" name="Правая фигурная скобка 13"/>
          <p:cNvSpPr/>
          <p:nvPr/>
        </p:nvSpPr>
        <p:spPr>
          <a:xfrm>
            <a:off x="3109373" y="2522220"/>
            <a:ext cx="792480" cy="1158716"/>
          </a:xfrm>
          <a:prstGeom prst="rightBrace">
            <a:avLst/>
          </a:prstGeom>
          <a:noFill/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571500" y="2099786"/>
            <a:ext cx="411480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548640" y="4431506"/>
            <a:ext cx="411480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1397338" y="5125084"/>
            <a:ext cx="6736080" cy="1423830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Если вызвать </a:t>
            </a:r>
            <a:r>
              <a:rPr lang="en-US" sz="2400" b="1" dirty="0" err="1" smtClean="0">
                <a:solidFill>
                  <a:srgbClr val="404040"/>
                </a:solidFill>
              </a:rPr>
              <a:t>beginPath</a:t>
            </a:r>
            <a:r>
              <a:rPr lang="en-US" sz="2400" b="1" dirty="0" smtClean="0">
                <a:solidFill>
                  <a:srgbClr val="404040"/>
                </a:solidFill>
              </a:rPr>
              <a:t>()</a:t>
            </a:r>
            <a:r>
              <a:rPr lang="en-US" sz="2400" dirty="0" smtClean="0">
                <a:solidFill>
                  <a:srgbClr val="404040"/>
                </a:solidFill>
              </a:rPr>
              <a:t> </a:t>
            </a:r>
            <a:r>
              <a:rPr lang="ru-RU" sz="2400" dirty="0" smtClean="0">
                <a:solidFill>
                  <a:srgbClr val="404040"/>
                </a:solidFill>
              </a:rPr>
              <a:t>повторно, то </a:t>
            </a:r>
          </a:p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добавленные ранее линии в путь обнулятся</a:t>
            </a:r>
          </a:p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Все</a:t>
            </a:r>
            <a:r>
              <a:rPr lang="ru-RU" sz="2400" dirty="0">
                <a:solidFill>
                  <a:srgbClr val="404040"/>
                </a:solidFill>
              </a:rPr>
              <a:t>, что нарисовано с помощью </a:t>
            </a:r>
            <a:r>
              <a:rPr lang="en-US" sz="2400" b="1" dirty="0">
                <a:solidFill>
                  <a:srgbClr val="404040"/>
                </a:solidFill>
              </a:rPr>
              <a:t>stroke</a:t>
            </a:r>
            <a:r>
              <a:rPr lang="en-US" sz="2400" b="1" dirty="0" smtClean="0">
                <a:solidFill>
                  <a:srgbClr val="404040"/>
                </a:solidFill>
              </a:rPr>
              <a:t>()</a:t>
            </a:r>
            <a:r>
              <a:rPr lang="ru-RU" sz="2400" dirty="0" smtClean="0">
                <a:solidFill>
                  <a:srgbClr val="404040"/>
                </a:solidFill>
              </a:rPr>
              <a:t>, </a:t>
            </a:r>
          </a:p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останется </a:t>
            </a:r>
            <a:r>
              <a:rPr lang="ru-RU" sz="2400" dirty="0">
                <a:solidFill>
                  <a:srgbClr val="404040"/>
                </a:solidFill>
              </a:rPr>
              <a:t>на экране</a:t>
            </a:r>
            <a:endParaRPr lang="en-US" sz="24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81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Замкнуть путь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3011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46" y="2688342"/>
            <a:ext cx="5619976" cy="373345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335" y="4287202"/>
            <a:ext cx="1085850" cy="113347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59167" y="1061904"/>
            <a:ext cx="7218044" cy="1493520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</a:rPr>
              <a:t>Добавить линию, соединяющую последнюю точку пути (контура) с первой</a:t>
            </a:r>
            <a:endParaRPr lang="ru-RU" sz="28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ctx.closePath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();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706637" y="4734877"/>
            <a:ext cx="2236896" cy="568643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59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646239"/>
            <a:ext cx="7514992" cy="377556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Залить сформированный контур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3011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19100" y="1084764"/>
            <a:ext cx="3605213" cy="1493520"/>
          </a:xfrm>
          <a:prstGeom prst="rect">
            <a:avLst/>
          </a:prstGeom>
          <a:solidFill>
            <a:srgbClr val="F6D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</a:rPr>
              <a:t>Выполнить заливку созданного контура</a:t>
            </a:r>
            <a:endParaRPr lang="ru-RU" sz="28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ctx.fill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();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160520" y="1086339"/>
            <a:ext cx="4610099" cy="14919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Если контур не замкнут, то </a:t>
            </a:r>
          </a:p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метод </a:t>
            </a:r>
            <a:r>
              <a:rPr lang="en-US" sz="2400" b="1" dirty="0" err="1" smtClean="0">
                <a:solidFill>
                  <a:srgbClr val="404040"/>
                </a:solidFill>
              </a:rPr>
              <a:t>fillPath</a:t>
            </a:r>
            <a:r>
              <a:rPr lang="en-US" sz="2400" b="1" dirty="0" smtClean="0">
                <a:solidFill>
                  <a:srgbClr val="404040"/>
                </a:solidFill>
              </a:rPr>
              <a:t>()</a:t>
            </a:r>
            <a:r>
              <a:rPr lang="en-US" sz="2400" dirty="0" smtClean="0">
                <a:solidFill>
                  <a:srgbClr val="404040"/>
                </a:solidFill>
              </a:rPr>
              <a:t> </a:t>
            </a:r>
            <a:r>
              <a:rPr lang="ru-RU" sz="2400" dirty="0" smtClean="0">
                <a:solidFill>
                  <a:srgbClr val="404040"/>
                </a:solidFill>
              </a:rPr>
              <a:t>предварительно соединяет первую и </a:t>
            </a:r>
          </a:p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последнюю точки контура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514679" y="3879985"/>
            <a:ext cx="3334746" cy="128660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Добавляем две линии, а третья добавляется методом </a:t>
            </a:r>
            <a:r>
              <a:rPr lang="en-US" sz="2400" b="1" dirty="0" smtClean="0">
                <a:solidFill>
                  <a:srgbClr val="404040"/>
                </a:solidFill>
              </a:rPr>
              <a:t>fill()</a:t>
            </a:r>
            <a:endParaRPr lang="ru-RU" sz="2400" b="1" dirty="0" smtClean="0">
              <a:solidFill>
                <a:srgbClr val="404040"/>
              </a:solidFill>
            </a:endParaRPr>
          </a:p>
        </p:txBody>
      </p:sp>
      <p:sp>
        <p:nvSpPr>
          <p:cNvPr id="14" name="Правая фигурная скобка 13"/>
          <p:cNvSpPr/>
          <p:nvPr/>
        </p:nvSpPr>
        <p:spPr>
          <a:xfrm>
            <a:off x="3764280" y="4527749"/>
            <a:ext cx="579120" cy="650592"/>
          </a:xfrm>
          <a:prstGeom prst="rightBrace">
            <a:avLst>
              <a:gd name="adj1" fmla="val 8333"/>
              <a:gd name="adj2" fmla="val 51080"/>
            </a:avLst>
          </a:prstGeom>
          <a:noFill/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Скругленная соединительная линия 15"/>
          <p:cNvCxnSpPr/>
          <p:nvPr/>
        </p:nvCxnSpPr>
        <p:spPr>
          <a:xfrm rot="10800000" flipV="1">
            <a:off x="2804160" y="5178341"/>
            <a:ext cx="2087880" cy="536660"/>
          </a:xfrm>
          <a:prstGeom prst="curvedConnector3">
            <a:avLst>
              <a:gd name="adj1" fmla="val -10949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587" y="4853045"/>
            <a:ext cx="1388289" cy="14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3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160" y="35739"/>
            <a:ext cx="5094329" cy="762342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Интеграция с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setInterval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02103" y="786510"/>
            <a:ext cx="3888441" cy="1804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79" y="1016564"/>
            <a:ext cx="7249478" cy="576523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58" y="35739"/>
            <a:ext cx="3291289" cy="2368006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1972359" y="5673970"/>
            <a:ext cx="2801930" cy="340751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758831" y="4651142"/>
            <a:ext cx="6121349" cy="804345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7030A0"/>
                </a:solidFill>
              </a:rPr>
              <a:t>Задать цвет в палитре </a:t>
            </a:r>
            <a:r>
              <a:rPr lang="en-US" sz="2400" b="1" dirty="0" smtClean="0">
                <a:solidFill>
                  <a:srgbClr val="7030A0"/>
                </a:solidFill>
              </a:rPr>
              <a:t>RGB</a:t>
            </a:r>
            <a:endParaRPr lang="ru-RU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ctx.fillStyle</a:t>
            </a:r>
            <a:r>
              <a:rPr lang="en-US" sz="2400" b="1" dirty="0">
                <a:solidFill>
                  <a:srgbClr val="404040"/>
                </a:solidFill>
                <a:latin typeface="Consolas" panose="020B0609020204030204" pitchFamily="49" charset="0"/>
              </a:rPr>
              <a:t> = '</a:t>
            </a:r>
            <a:r>
              <a:rPr lang="en-US" sz="24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rgb</a:t>
            </a:r>
            <a:r>
              <a:rPr lang="en-US" sz="24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(123,234,100)'</a:t>
            </a:r>
            <a:endParaRPr lang="en-US" sz="24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812143" y="4030774"/>
            <a:ext cx="5417087" cy="340751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Скругленная соединительная линия 12"/>
          <p:cNvCxnSpPr>
            <a:endCxn id="11" idx="3"/>
          </p:cNvCxnSpPr>
          <p:nvPr/>
        </p:nvCxnSpPr>
        <p:spPr>
          <a:xfrm rot="10800000">
            <a:off x="7229230" y="4201151"/>
            <a:ext cx="945662" cy="433373"/>
          </a:xfrm>
          <a:prstGeom prst="curvedConnector3">
            <a:avLst>
              <a:gd name="adj1" fmla="val -4545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17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Эксперименты с палитрой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RGB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6779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51" y="1146407"/>
            <a:ext cx="3343218" cy="231648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32151" y="1182154"/>
            <a:ext cx="2444449" cy="729730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Без </a:t>
            </a:r>
            <a:r>
              <a:rPr lang="ru-RU" sz="2000" b="1" dirty="0" smtClean="0">
                <a:solidFill>
                  <a:srgbClr val="0070C0"/>
                </a:solidFill>
              </a:rPr>
              <a:t>синего</a:t>
            </a:r>
            <a:r>
              <a:rPr lang="ru-RU" sz="2000" b="1" dirty="0" smtClean="0">
                <a:solidFill>
                  <a:schemeClr val="tx1"/>
                </a:solidFill>
              </a:rPr>
              <a:t> цвета</a:t>
            </a:r>
          </a:p>
          <a:p>
            <a:pPr algn="ctr"/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rgb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(rand,rand,0</a:t>
            </a:r>
            <a:r>
              <a:rPr lang="en-US" sz="2000" b="1" dirty="0">
                <a:solidFill>
                  <a:srgbClr val="40404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42" y="1182155"/>
            <a:ext cx="3213058" cy="228283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512611" y="1182154"/>
            <a:ext cx="2444449" cy="729730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Без </a:t>
            </a:r>
            <a:r>
              <a:rPr lang="ru-RU" sz="2000" b="1" dirty="0" smtClean="0">
                <a:solidFill>
                  <a:srgbClr val="FF0000"/>
                </a:solidFill>
              </a:rPr>
              <a:t>красного</a:t>
            </a:r>
            <a:r>
              <a:rPr lang="ru-RU" sz="2000" b="1" dirty="0" smtClean="0">
                <a:solidFill>
                  <a:schemeClr val="tx1"/>
                </a:solidFill>
              </a:rPr>
              <a:t> цвета</a:t>
            </a:r>
          </a:p>
          <a:p>
            <a:pPr algn="ctr"/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rgb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</a:t>
            </a:r>
            <a:r>
              <a:rPr lang="ru-RU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0,</a:t>
            </a:r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rand,rand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51" y="3999337"/>
            <a:ext cx="3355793" cy="2422463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771191" y="3777594"/>
            <a:ext cx="2444449" cy="729730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Без </a:t>
            </a:r>
            <a:r>
              <a:rPr lang="ru-RU" sz="2000" b="1" dirty="0" smtClean="0">
                <a:solidFill>
                  <a:srgbClr val="00B050"/>
                </a:solidFill>
              </a:rPr>
              <a:t>зеленого</a:t>
            </a:r>
            <a:r>
              <a:rPr lang="ru-RU" sz="2000" b="1" dirty="0" smtClean="0">
                <a:solidFill>
                  <a:srgbClr val="0070C0"/>
                </a:solidFill>
              </a:rPr>
              <a:t> </a:t>
            </a:r>
            <a:r>
              <a:rPr lang="ru-RU" sz="2000" b="1" dirty="0" smtClean="0">
                <a:solidFill>
                  <a:schemeClr val="tx1"/>
                </a:solidFill>
              </a:rPr>
              <a:t>цвета</a:t>
            </a:r>
          </a:p>
          <a:p>
            <a:pPr algn="ctr"/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rgb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(rand,rand,0</a:t>
            </a:r>
            <a:r>
              <a:rPr lang="en-US" sz="2000" b="1" dirty="0">
                <a:solidFill>
                  <a:srgbClr val="40404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42" y="3957133"/>
            <a:ext cx="3377702" cy="2464667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4538021" y="3735390"/>
            <a:ext cx="3059119" cy="729730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Все цвета</a:t>
            </a:r>
          </a:p>
          <a:p>
            <a:pPr algn="ctr"/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rgb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 smtClean="0">
                <a:solidFill>
                  <a:srgbClr val="404040"/>
                </a:solidFill>
                <a:latin typeface="Consolas" panose="020B0609020204030204" pitchFamily="49" charset="0"/>
              </a:rPr>
              <a:t>rand,rand,rand</a:t>
            </a:r>
            <a:r>
              <a:rPr lang="en-US" sz="2000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5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ular polygon 8 annotated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79" y="1834941"/>
            <a:ext cx="4793884" cy="479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Расчет координат с помощью математических функций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6779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65760" y="1211922"/>
            <a:ext cx="2444449" cy="729730"/>
          </a:xfrm>
          <a:prstGeom prst="rect">
            <a:avLst/>
          </a:prstGeom>
          <a:solidFill>
            <a:srgbClr val="F6D66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Равносторонний многоугольник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272521" y="1790700"/>
            <a:ext cx="0" cy="488442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01040" y="4231883"/>
            <a:ext cx="5207339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ая выноска 22"/>
          <p:cNvSpPr/>
          <p:nvPr/>
        </p:nvSpPr>
        <p:spPr>
          <a:xfrm>
            <a:off x="5347255" y="1098119"/>
            <a:ext cx="2436347" cy="1094625"/>
          </a:xfrm>
          <a:prstGeom prst="wedgeRectCallout">
            <a:avLst>
              <a:gd name="adj1" fmla="val -64745"/>
              <a:gd name="adj2" fmla="val 812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 = R*cos(alpha)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y = R*sin(alpha</a:t>
            </a:r>
            <a:r>
              <a:rPr lang="en-US" sz="2400" b="1" dirty="0" smtClean="0">
                <a:solidFill>
                  <a:schemeClr val="tx1"/>
                </a:solidFill>
              </a:rPr>
              <a:t>)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26" name="Прямоугольная выноска 25"/>
          <p:cNvSpPr/>
          <p:nvPr/>
        </p:nvSpPr>
        <p:spPr>
          <a:xfrm>
            <a:off x="5966648" y="2665001"/>
            <a:ext cx="2436347" cy="961337"/>
          </a:xfrm>
          <a:prstGeom prst="wedgeRectCallout">
            <a:avLst>
              <a:gd name="adj1" fmla="val -147186"/>
              <a:gd name="adj2" fmla="val 2188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alpha = 2*Pi*</a:t>
            </a:r>
            <a:r>
              <a:rPr lang="en-US" sz="2400" b="1" dirty="0" err="1" smtClean="0">
                <a:solidFill>
                  <a:schemeClr val="tx1"/>
                </a:solidFill>
              </a:rPr>
              <a:t>i</a:t>
            </a:r>
            <a:r>
              <a:rPr lang="en-US" sz="2400" b="1" dirty="0" smtClean="0">
                <a:solidFill>
                  <a:schemeClr val="tx1"/>
                </a:solidFill>
              </a:rPr>
              <a:t>/n</a:t>
            </a:r>
          </a:p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i</a:t>
            </a:r>
            <a:r>
              <a:rPr lang="en-US" sz="2400" b="1" dirty="0" smtClean="0">
                <a:solidFill>
                  <a:schemeClr val="tx1"/>
                </a:solidFill>
              </a:rPr>
              <a:t>=0..n-1</a:t>
            </a:r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1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70" y="977268"/>
            <a:ext cx="7992929" cy="5679187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589" y="3695053"/>
            <a:ext cx="2033657" cy="209961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19100" y="78182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программного кода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1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0"/>
            <a:ext cx="8404859" cy="668752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практическое задание</a:t>
            </a:r>
            <a:endParaRPr lang="ru-RU" sz="30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33202" y="538403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46709" y="746760"/>
            <a:ext cx="8473439" cy="5783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0070C0"/>
                </a:solidFill>
              </a:rPr>
              <a:t>Выполните два любых задания на выбор</a:t>
            </a:r>
          </a:p>
          <a:p>
            <a:pPr marL="514350" indent="-514350">
              <a:buAutoNum type="arabicPeriod"/>
            </a:pPr>
            <a:r>
              <a:rPr lang="ru-RU" sz="2000" b="1" dirty="0" smtClean="0">
                <a:solidFill>
                  <a:srgbClr val="404040"/>
                </a:solidFill>
              </a:rPr>
              <a:t>С использованием элемента </a:t>
            </a:r>
            <a:r>
              <a:rPr lang="en-US" sz="2000" b="1" dirty="0" smtClean="0">
                <a:solidFill>
                  <a:srgbClr val="404040"/>
                </a:solidFill>
              </a:rPr>
              <a:t>Canvas 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нарисуйте </a:t>
            </a:r>
            <a:r>
              <a:rPr lang="ru-RU" sz="2000" b="1" cap="all" dirty="0" smtClean="0">
                <a:solidFill>
                  <a:schemeClr val="accent6">
                    <a:lumMod val="75000"/>
                  </a:schemeClr>
                </a:solidFill>
              </a:rPr>
              <a:t>дом с забором и какими-либо другими объектами</a:t>
            </a:r>
          </a:p>
          <a:p>
            <a:pPr marL="514350" indent="-514350">
              <a:buAutoNum type="arabicPeriod"/>
            </a:pPr>
            <a:endParaRPr lang="ru-RU" sz="2000" b="1" cap="all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ru-RU" sz="2000" b="1" dirty="0">
                <a:solidFill>
                  <a:srgbClr val="404040"/>
                </a:solidFill>
              </a:rPr>
              <a:t>Р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еал</a:t>
            </a:r>
            <a:r>
              <a:rPr lang="ru-RU" sz="2000" b="1" cap="all" dirty="0" smtClean="0">
                <a:solidFill>
                  <a:schemeClr val="accent6">
                    <a:lumMod val="75000"/>
                  </a:schemeClr>
                </a:solidFill>
              </a:rPr>
              <a:t>изуйте отображение прямоугольника так, чтобы пользователь выбирал: </a:t>
            </a:r>
            <a:r>
              <a:rPr lang="ru-RU" sz="2000" b="1" dirty="0" smtClean="0">
                <a:solidFill>
                  <a:srgbClr val="404040"/>
                </a:solidFill>
              </a:rPr>
              <a:t>координаты прямоугольника, цвет, размер</a:t>
            </a:r>
            <a:endParaRPr lang="ru-RU" sz="2000" b="1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ru-RU" sz="2000" b="1" cap="all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ru-RU" sz="2000" b="1" dirty="0" smtClean="0">
                <a:solidFill>
                  <a:srgbClr val="404040"/>
                </a:solidFill>
              </a:rPr>
              <a:t>С </a:t>
            </a:r>
            <a:r>
              <a:rPr lang="ru-RU" sz="2000" b="1" dirty="0">
                <a:solidFill>
                  <a:srgbClr val="404040"/>
                </a:solidFill>
              </a:rPr>
              <a:t>использованием элемента </a:t>
            </a:r>
            <a:r>
              <a:rPr lang="en-US" sz="2000" b="1" dirty="0" smtClean="0">
                <a:solidFill>
                  <a:srgbClr val="404040"/>
                </a:solidFill>
              </a:rPr>
              <a:t>Canvas 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реализуйте отображение </a:t>
            </a:r>
            <a:r>
              <a:rPr lang="ru-RU" sz="2000" b="1" cap="all" dirty="0" smtClean="0">
                <a:solidFill>
                  <a:schemeClr val="accent6">
                    <a:lumMod val="75000"/>
                  </a:schemeClr>
                </a:solidFill>
              </a:rPr>
              <a:t>равностороннего мн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огоугольника, чтобы пользователь </a:t>
            </a:r>
            <a:r>
              <a:rPr lang="ru-RU" sz="2000" b="1" cap="all" dirty="0" smtClean="0">
                <a:solidFill>
                  <a:schemeClr val="accent6">
                    <a:lumMod val="75000"/>
                  </a:schemeClr>
                </a:solidFill>
              </a:rPr>
              <a:t>выбирал: </a:t>
            </a:r>
            <a:r>
              <a:rPr lang="ru-RU" sz="2000" b="1" dirty="0" smtClean="0">
                <a:solidFill>
                  <a:srgbClr val="404040"/>
                </a:solidFill>
              </a:rPr>
              <a:t>цвет контура, заливать/нет, цвет заливки, количество углов</a:t>
            </a:r>
          </a:p>
          <a:p>
            <a:pPr marL="514350" indent="-514350">
              <a:buAutoNum type="arabicPeriod"/>
            </a:pPr>
            <a:endParaRPr lang="en-US" sz="2000" b="1" dirty="0" smtClean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r>
              <a:rPr lang="ru-RU" sz="2000" b="1" dirty="0" smtClean="0">
                <a:solidFill>
                  <a:srgbClr val="404040"/>
                </a:solidFill>
              </a:rPr>
              <a:t>С использованием </a:t>
            </a:r>
            <a:r>
              <a:rPr lang="en-US" sz="2000" b="1" dirty="0" err="1" smtClean="0">
                <a:solidFill>
                  <a:srgbClr val="404040"/>
                </a:solidFill>
              </a:rPr>
              <a:t>setInterval</a:t>
            </a:r>
            <a:r>
              <a:rPr lang="en-US" sz="2000" b="1" dirty="0" smtClean="0">
                <a:solidFill>
                  <a:srgbClr val="404040"/>
                </a:solidFill>
              </a:rPr>
              <a:t> 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реализуйте отображение </a:t>
            </a:r>
            <a:r>
              <a:rPr lang="ru-RU" sz="2000" b="1" cap="all" dirty="0" smtClean="0">
                <a:solidFill>
                  <a:schemeClr val="accent6">
                    <a:lumMod val="75000"/>
                  </a:schemeClr>
                </a:solidFill>
              </a:rPr>
              <a:t>прямоугольников со </a:t>
            </a:r>
            <a:r>
              <a:rPr lang="ru-RU" sz="2000" b="1" cap="all" dirty="0">
                <a:solidFill>
                  <a:schemeClr val="accent6">
                    <a:lumMod val="75000"/>
                  </a:schemeClr>
                </a:solidFill>
              </a:rPr>
              <a:t>случайным цветом и случайными координатами</a:t>
            </a:r>
            <a:r>
              <a:rPr lang="ru-RU" sz="2000" b="1" dirty="0" smtClean="0">
                <a:solidFill>
                  <a:srgbClr val="404040"/>
                </a:solidFill>
              </a:rPr>
              <a:t>. Пользователь должен иметь возможность выбора компонентов палитры </a:t>
            </a:r>
            <a:r>
              <a:rPr lang="en-US" sz="2000" b="1" dirty="0" smtClean="0">
                <a:solidFill>
                  <a:srgbClr val="404040"/>
                </a:solidFill>
              </a:rPr>
              <a:t>RGB</a:t>
            </a:r>
            <a:r>
              <a:rPr lang="ru-RU" sz="2000" b="1" dirty="0" smtClean="0">
                <a:solidFill>
                  <a:srgbClr val="404040"/>
                </a:solidFill>
              </a:rPr>
              <a:t>, которые следует использовать, и скорость появления прямоугольников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5450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Документация и </a:t>
            </a:r>
            <a:br>
              <a:rPr lang="ru-RU" sz="30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0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справочные материалы</a:t>
            </a:r>
            <a:endParaRPr lang="ru-RU" sz="30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1390" y="1012587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5760" y="1315844"/>
            <a:ext cx="8542020" cy="5244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 smtClean="0">
                <a:solidFill>
                  <a:srgbClr val="404040"/>
                </a:solidFill>
              </a:rPr>
              <a:t>Документация </a:t>
            </a:r>
            <a:r>
              <a:rPr lang="en-US" sz="2800" b="1" dirty="0" smtClean="0">
                <a:solidFill>
                  <a:srgbClr val="404040"/>
                </a:solidFill>
              </a:rPr>
              <a:t>Mozilla</a:t>
            </a:r>
          </a:p>
          <a:p>
            <a:r>
              <a:rPr lang="en-US" sz="2800" dirty="0" smtClean="0">
                <a:solidFill>
                  <a:srgbClr val="404040"/>
                </a:solidFill>
              </a:rPr>
              <a:t>developer.mozilla.org/</a:t>
            </a:r>
            <a:r>
              <a:rPr lang="en-US" sz="2800" dirty="0" err="1" smtClean="0">
                <a:solidFill>
                  <a:srgbClr val="404040"/>
                </a:solidFill>
              </a:rPr>
              <a:t>ru</a:t>
            </a:r>
            <a:r>
              <a:rPr lang="en-US" sz="2800" dirty="0" smtClean="0">
                <a:solidFill>
                  <a:srgbClr val="404040"/>
                </a:solidFill>
              </a:rPr>
              <a:t>/docs/Web/API/</a:t>
            </a:r>
            <a:r>
              <a:rPr lang="en-US" sz="2800" dirty="0" err="1" smtClean="0">
                <a:solidFill>
                  <a:srgbClr val="404040"/>
                </a:solidFill>
              </a:rPr>
              <a:t>Canvas_API</a:t>
            </a:r>
            <a:endParaRPr lang="en-US" sz="2800" dirty="0" smtClean="0">
              <a:solidFill>
                <a:srgbClr val="404040"/>
              </a:solidFill>
            </a:endParaRPr>
          </a:p>
          <a:p>
            <a:endParaRPr lang="en-US" sz="2800" b="1" dirty="0" smtClean="0">
              <a:solidFill>
                <a:srgbClr val="404040"/>
              </a:solidFill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ru-RU" sz="2800" b="1" dirty="0">
                <a:solidFill>
                  <a:srgbClr val="404040"/>
                </a:solidFill>
              </a:rPr>
              <a:t>Руководство </a:t>
            </a:r>
            <a:r>
              <a:rPr lang="en-US" sz="2800" b="1" dirty="0" smtClean="0">
                <a:solidFill>
                  <a:srgbClr val="404040"/>
                </a:solidFill>
              </a:rPr>
              <a:t>W3School</a:t>
            </a:r>
            <a:endParaRPr lang="en-US" sz="2800" b="1" dirty="0">
              <a:solidFill>
                <a:srgbClr val="404040"/>
              </a:solidFill>
            </a:endParaRPr>
          </a:p>
          <a:p>
            <a:r>
              <a:rPr lang="en-US" sz="2800" dirty="0" smtClean="0">
                <a:solidFill>
                  <a:srgbClr val="404040"/>
                </a:solidFill>
              </a:rPr>
              <a:t>w3schools.com/html/html5_canvas.asp</a:t>
            </a:r>
          </a:p>
          <a:p>
            <a:endParaRPr lang="ru-RU" sz="2800" b="1" dirty="0" smtClean="0">
              <a:solidFill>
                <a:srgbClr val="404040"/>
              </a:solidFill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ru-RU" sz="2800" b="1" dirty="0">
                <a:solidFill>
                  <a:srgbClr val="404040"/>
                </a:solidFill>
              </a:rPr>
              <a:t>Руководство </a:t>
            </a:r>
            <a:r>
              <a:rPr lang="en-US" sz="2800" b="1" dirty="0" err="1">
                <a:solidFill>
                  <a:srgbClr val="404040"/>
                </a:solidFill>
              </a:rPr>
              <a:t>HtmlBook</a:t>
            </a:r>
            <a:endParaRPr lang="en-US" sz="2800" b="1" dirty="0">
              <a:solidFill>
                <a:srgbClr val="404040"/>
              </a:solidFill>
            </a:endParaRPr>
          </a:p>
          <a:p>
            <a:r>
              <a:rPr lang="en-US" sz="2800" dirty="0" smtClean="0">
                <a:solidFill>
                  <a:srgbClr val="404040"/>
                </a:solidFill>
              </a:rPr>
              <a:t>htmlbook.ru/html/canvas</a:t>
            </a:r>
          </a:p>
          <a:p>
            <a:endParaRPr lang="en-US" sz="2800" b="1" dirty="0">
              <a:solidFill>
                <a:srgbClr val="404040"/>
              </a:solidFill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ru-RU" sz="2800" b="1" dirty="0" err="1" smtClean="0">
                <a:solidFill>
                  <a:srgbClr val="404040"/>
                </a:solidFill>
              </a:rPr>
              <a:t>Видеоурок</a:t>
            </a:r>
            <a:r>
              <a:rPr lang="ru-RU" sz="2800" b="1" dirty="0" err="1">
                <a:solidFill>
                  <a:srgbClr val="404040"/>
                </a:solidFill>
              </a:rPr>
              <a:t>и</a:t>
            </a:r>
            <a:endParaRPr lang="ru-RU" sz="2800" b="1" dirty="0">
              <a:solidFill>
                <a:srgbClr val="404040"/>
              </a:solidFill>
            </a:endParaRPr>
          </a:p>
          <a:p>
            <a:r>
              <a:rPr lang="en-US" sz="2800" dirty="0" smtClean="0">
                <a:solidFill>
                  <a:srgbClr val="404040"/>
                </a:solidFill>
              </a:rPr>
              <a:t>youtube.com/</a:t>
            </a:r>
            <a:r>
              <a:rPr lang="en-US" sz="2800" dirty="0" err="1" smtClean="0">
                <a:solidFill>
                  <a:srgbClr val="404040"/>
                </a:solidFill>
              </a:rPr>
              <a:t>watch?v</a:t>
            </a:r>
            <a:r>
              <a:rPr lang="en-US" sz="2800" dirty="0" smtClean="0">
                <a:solidFill>
                  <a:srgbClr val="404040"/>
                </a:solidFill>
              </a:rPr>
              <a:t>=SRM7PYjKuGo</a:t>
            </a:r>
            <a:endParaRPr lang="ru-RU" sz="2800" dirty="0" smtClean="0">
              <a:solidFill>
                <a:srgbClr val="404040"/>
              </a:solidFill>
            </a:endParaRPr>
          </a:p>
          <a:p>
            <a:r>
              <a:rPr lang="en-US" sz="2800" dirty="0" smtClean="0">
                <a:solidFill>
                  <a:srgbClr val="404040"/>
                </a:solidFill>
              </a:rPr>
              <a:t>youtube.com/</a:t>
            </a:r>
            <a:r>
              <a:rPr lang="en-US" sz="2800" dirty="0" err="1" smtClean="0">
                <a:solidFill>
                  <a:srgbClr val="404040"/>
                </a:solidFill>
              </a:rPr>
              <a:t>watch?v</a:t>
            </a:r>
            <a:r>
              <a:rPr lang="en-US" sz="2800" dirty="0" smtClean="0">
                <a:solidFill>
                  <a:srgbClr val="404040"/>
                </a:solidFill>
              </a:rPr>
              <a:t>=WA4yOWGKgOE</a:t>
            </a:r>
            <a:endParaRPr lang="ru-RU" sz="2800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02899" y="1508170"/>
            <a:ext cx="7709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6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13358" y="464820"/>
            <a:ext cx="5169622" cy="5966460"/>
          </a:xfrm>
          <a:prstGeom prst="rect">
            <a:avLst/>
          </a:prstGeom>
          <a:solidFill>
            <a:srgbClr val="89CF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6279" y="21790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Спасибо за внимание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25969" y="3091298"/>
            <a:ext cx="5227320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 rot="811255">
            <a:off x="7726031" y="1802830"/>
            <a:ext cx="867545" cy="255454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60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!</a:t>
            </a:r>
            <a:endParaRPr lang="ru-RU" sz="160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700180" y="6421800"/>
            <a:ext cx="360000" cy="360000"/>
          </a:xfrm>
          <a:prstGeom prst="rect">
            <a:avLst/>
          </a:prstGeom>
          <a:solidFill>
            <a:srgbClr val="F6D66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326799" y="6421800"/>
            <a:ext cx="360000" cy="360000"/>
          </a:xfrm>
          <a:prstGeom prst="rect">
            <a:avLst/>
          </a:prstGeom>
          <a:solidFill>
            <a:srgbClr val="89CF89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953418" y="6421800"/>
            <a:ext cx="360000" cy="360000"/>
          </a:xfrm>
          <a:prstGeom prst="rect">
            <a:avLst/>
          </a:prstGeom>
          <a:solidFill>
            <a:srgbClr val="404040"/>
          </a:solidFill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2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3915</TotalTime>
  <Words>518</Words>
  <Application>Microsoft Office PowerPoint</Application>
  <PresentationFormat>Экран (4:3)</PresentationFormat>
  <Paragraphs>123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Aharoni</vt:lpstr>
      <vt:lpstr>Arial</vt:lpstr>
      <vt:lpstr>Arial Black</vt:lpstr>
      <vt:lpstr>Calibri</vt:lpstr>
      <vt:lpstr>Calibri Light</vt:lpstr>
      <vt:lpstr>Consolas</vt:lpstr>
      <vt:lpstr>Courier New</vt:lpstr>
      <vt:lpstr>Тема Office</vt:lpstr>
      <vt:lpstr>Практикум по web-разработке  Пестунов Андрей Игоревич заведующий кафедрой информационных технологий     Лекция 1.5. Основы работы с Canvas    </vt:lpstr>
      <vt:lpstr>Презентация PowerPoint</vt:lpstr>
      <vt:lpstr>координатная сетка canvas</vt:lpstr>
      <vt:lpstr>Два подхода к рисованию  объектов на canvas</vt:lpstr>
      <vt:lpstr>Базовая функциональность что-то нарисовать</vt:lpstr>
      <vt:lpstr>Прямоугольники с заливкой</vt:lpstr>
      <vt:lpstr>Прямоугольники без заливки</vt:lpstr>
      <vt:lpstr>рисование Линий (без заливки контура)</vt:lpstr>
      <vt:lpstr>черчение Линий (без заливки) – пример</vt:lpstr>
      <vt:lpstr>Замкнуть путь</vt:lpstr>
      <vt:lpstr>Залить сформированный контур</vt:lpstr>
      <vt:lpstr>Интеграция с setInterval</vt:lpstr>
      <vt:lpstr>Эксперименты с палитрой RGB</vt:lpstr>
      <vt:lpstr>Расчет координат с помощью математических функций</vt:lpstr>
      <vt:lpstr>Пример программного кода</vt:lpstr>
      <vt:lpstr>практическое задание</vt:lpstr>
      <vt:lpstr>Документация и  справочные материалы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pestunov@gmail.com</dc:creator>
  <cp:lastModifiedBy>Пестунов Андрей Игоревич</cp:lastModifiedBy>
  <cp:revision>818</cp:revision>
  <dcterms:created xsi:type="dcterms:W3CDTF">2018-10-06T02:43:53Z</dcterms:created>
  <dcterms:modified xsi:type="dcterms:W3CDTF">2021-03-08T13:38:51Z</dcterms:modified>
</cp:coreProperties>
</file>