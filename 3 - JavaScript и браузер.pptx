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368" r:id="rId3"/>
    <p:sldId id="416" r:id="rId4"/>
    <p:sldId id="417" r:id="rId5"/>
    <p:sldId id="400" r:id="rId6"/>
    <p:sldId id="418" r:id="rId7"/>
    <p:sldId id="386" r:id="rId8"/>
    <p:sldId id="419" r:id="rId9"/>
    <p:sldId id="420" r:id="rId10"/>
    <p:sldId id="421" r:id="rId11"/>
    <p:sldId id="341" r:id="rId12"/>
    <p:sldId id="367" r:id="rId13"/>
    <p:sldId id="312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362F416-ED43-4566-BB0F-137E38F0BD5E}">
          <p14:sldIdLst>
            <p14:sldId id="256"/>
            <p14:sldId id="368"/>
            <p14:sldId id="416"/>
            <p14:sldId id="417"/>
            <p14:sldId id="400"/>
            <p14:sldId id="418"/>
            <p14:sldId id="386"/>
            <p14:sldId id="419"/>
            <p14:sldId id="420"/>
            <p14:sldId id="421"/>
            <p14:sldId id="341"/>
            <p14:sldId id="367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D9D9D9"/>
    <a:srgbClr val="F2F2F2"/>
    <a:srgbClr val="1E1E1E"/>
    <a:srgbClr val="B1D581"/>
    <a:srgbClr val="F6D660"/>
    <a:srgbClr val="89CF89"/>
    <a:srgbClr val="F9EAB4"/>
    <a:srgbClr val="FFF2CC"/>
    <a:srgbClr val="88CE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4" autoAdjust="0"/>
    <p:restoredTop sz="95820" autoAdjust="0"/>
  </p:normalViewPr>
  <p:slideViewPr>
    <p:cSldViewPr snapToGrid="0">
      <p:cViewPr varScale="1">
        <p:scale>
          <a:sx n="111" d="100"/>
          <a:sy n="111" d="100"/>
        </p:scale>
        <p:origin x="606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1EA05-DCE4-441D-A9E6-4D034D25250E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D7B2F-4617-4A74-808C-1A629B3A9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87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6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12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86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39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95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21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106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59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34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19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43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D5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6A0DD-B79F-41A2-8137-7FE4D6F2B9C7}" type="datetimeFigureOut">
              <a:rPr lang="ru-RU" smtClean="0"/>
              <a:t>19.02.2021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1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ru/docs/Web/API/WindowOrWorkerGlobalScope/setInterval" TargetMode="External"/><Relationship Id="rId2" Type="http://schemas.openxmlformats.org/officeDocument/2006/relationships/hyperlink" Target="https://learn.javascript.ru/settimeout-setinterva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sref/met_win_setinterval.asp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3443" y="1599681"/>
            <a:ext cx="7783551" cy="4600620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>JavaScript</a:t>
            </a:r>
            <a: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30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30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>Пестунов Андрей Игоревич</a:t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4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>заведующий кафедрой информационных технологий</a:t>
            </a: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  <a:t>Лекция </a:t>
            </a:r>
            <a:r>
              <a:rPr lang="en-US" sz="2400" b="1" dirty="0" smtClean="0">
                <a:latin typeface="Arial Black" panose="020B0A04020102020204" pitchFamily="34" charset="0"/>
                <a:cs typeface="Aharoni" panose="02010803020104030203" pitchFamily="2" charset="-79"/>
              </a:rPr>
              <a:t>1.</a:t>
            </a:r>
            <a:r>
              <a:rPr lang="ru-RU" sz="2400" b="1" dirty="0" smtClean="0">
                <a:latin typeface="Arial Black" panose="020B0A04020102020204" pitchFamily="34" charset="0"/>
                <a:cs typeface="Aharoni" panose="02010803020104030203" pitchFamily="2" charset="-79"/>
              </a:rPr>
              <a:t>3. </a:t>
            </a:r>
            <a:r>
              <a:rPr lang="en-US" sz="2400" b="1" dirty="0" smtClean="0">
                <a:latin typeface="Arial Black" panose="020B0A04020102020204" pitchFamily="34" charset="0"/>
                <a:cs typeface="Aharoni" panose="02010803020104030203" pitchFamily="2" charset="-79"/>
              </a:rPr>
              <a:t>JavaScript </a:t>
            </a:r>
            <a:r>
              <a:rPr lang="ru-RU" sz="2400" b="1" dirty="0" smtClean="0">
                <a:latin typeface="Arial Black" panose="020B0A04020102020204" pitchFamily="34" charset="0"/>
                <a:cs typeface="Aharoni" panose="02010803020104030203" pitchFamily="2" charset="-79"/>
              </a:rPr>
              <a:t>и браузер</a:t>
            </a:r>
            <a: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endParaRPr lang="ru-RU" sz="3000" b="1" i="1" dirty="0"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9" name="Picture 2" descr="https://nsuem.ru/local/assets/images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44" y="721343"/>
            <a:ext cx="2308452" cy="81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22" y="486935"/>
            <a:ext cx="2427694" cy="11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3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7279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методы/события браузера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62437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495945" y="945397"/>
            <a:ext cx="8355007" cy="559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 smtClean="0">
                <a:solidFill>
                  <a:srgbClr val="404040"/>
                </a:solidFill>
              </a:rPr>
              <a:t>onresize</a:t>
            </a:r>
            <a:endParaRPr lang="ru-RU" sz="2800" b="1" dirty="0" smtClean="0">
              <a:solidFill>
                <a:srgbClr val="404040"/>
              </a:solidFill>
            </a:endParaRPr>
          </a:p>
          <a:p>
            <a:r>
              <a:rPr lang="ru-RU" sz="2800" dirty="0" smtClean="0">
                <a:solidFill>
                  <a:srgbClr val="404040"/>
                </a:solidFill>
              </a:rPr>
              <a:t>изменение размера окна</a:t>
            </a:r>
            <a:endParaRPr lang="en-US" sz="2800" dirty="0" smtClean="0">
              <a:solidFill>
                <a:srgbClr val="404040"/>
              </a:solidFill>
            </a:endParaRPr>
          </a:p>
          <a:p>
            <a:endParaRPr lang="ru-RU" sz="2800" b="1" dirty="0">
              <a:solidFill>
                <a:srgbClr val="404040"/>
              </a:solidFill>
            </a:endParaRPr>
          </a:p>
          <a:p>
            <a:r>
              <a:rPr lang="en-US" sz="2800" b="1" dirty="0" err="1" smtClean="0">
                <a:solidFill>
                  <a:srgbClr val="404040"/>
                </a:solidFill>
              </a:rPr>
              <a:t>setTimeout</a:t>
            </a:r>
            <a:endParaRPr lang="ru-RU" sz="2800" b="1" dirty="0" smtClean="0">
              <a:solidFill>
                <a:srgbClr val="404040"/>
              </a:solidFill>
            </a:endParaRPr>
          </a:p>
          <a:p>
            <a:r>
              <a:rPr lang="ru-RU" sz="2800" dirty="0" smtClean="0">
                <a:solidFill>
                  <a:srgbClr val="404040"/>
                </a:solidFill>
              </a:rPr>
              <a:t>запуск таймера; после окончания вызывается указанная функция</a:t>
            </a:r>
            <a:endParaRPr lang="en-US" sz="2800" dirty="0" smtClean="0">
              <a:solidFill>
                <a:srgbClr val="404040"/>
              </a:solidFill>
            </a:endParaRPr>
          </a:p>
          <a:p>
            <a:endParaRPr lang="en-US" sz="2800" b="1" dirty="0">
              <a:solidFill>
                <a:srgbClr val="404040"/>
              </a:solidFill>
            </a:endParaRPr>
          </a:p>
          <a:p>
            <a:r>
              <a:rPr lang="en-US" sz="2800" b="1" dirty="0" err="1" smtClean="0">
                <a:solidFill>
                  <a:srgbClr val="404040"/>
                </a:solidFill>
              </a:rPr>
              <a:t>setInterval</a:t>
            </a:r>
            <a:endParaRPr lang="en-US" sz="2800" b="1" dirty="0" smtClean="0">
              <a:solidFill>
                <a:srgbClr val="404040"/>
              </a:solidFill>
            </a:endParaRPr>
          </a:p>
          <a:p>
            <a:r>
              <a:rPr lang="ru-RU" sz="2800" dirty="0" smtClean="0">
                <a:solidFill>
                  <a:srgbClr val="404040"/>
                </a:solidFill>
              </a:rPr>
              <a:t>запуск периодического таймера</a:t>
            </a:r>
          </a:p>
          <a:p>
            <a:r>
              <a:rPr lang="ru-RU" sz="2800" b="1" dirty="0" smtClean="0">
                <a:solidFill>
                  <a:srgbClr val="404040"/>
                </a:solidFill>
              </a:rPr>
              <a:t> </a:t>
            </a:r>
            <a:endParaRPr lang="en-US" sz="2800" b="1" dirty="0">
              <a:solidFill>
                <a:srgbClr val="404040"/>
              </a:solidFill>
            </a:endParaRPr>
          </a:p>
          <a:p>
            <a:r>
              <a:rPr lang="en-US" sz="2800" b="1" dirty="0" err="1" smtClean="0">
                <a:solidFill>
                  <a:srgbClr val="404040"/>
                </a:solidFill>
              </a:rPr>
              <a:t>clearInterval</a:t>
            </a:r>
            <a:endParaRPr lang="ru-RU" sz="2800" b="1" dirty="0" smtClean="0">
              <a:solidFill>
                <a:srgbClr val="404040"/>
              </a:solidFill>
            </a:endParaRPr>
          </a:p>
          <a:p>
            <a:r>
              <a:rPr lang="ru-RU" sz="2800" dirty="0" smtClean="0">
                <a:solidFill>
                  <a:srgbClr val="404040"/>
                </a:solidFill>
              </a:rPr>
              <a:t>остановка </a:t>
            </a:r>
            <a:r>
              <a:rPr lang="ru-RU" sz="2800" dirty="0">
                <a:solidFill>
                  <a:srgbClr val="404040"/>
                </a:solidFill>
              </a:rPr>
              <a:t>периодического таймера</a:t>
            </a:r>
            <a:endParaRPr lang="ru-RU" sz="28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6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094" y="1924120"/>
            <a:ext cx="272415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66" y="2057470"/>
            <a:ext cx="28670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15690" y="5487862"/>
            <a:ext cx="374284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Прошло 5 секунд</a:t>
            </a:r>
            <a:endParaRPr lang="ru-RU" sz="3200" b="1" dirty="0"/>
          </a:p>
        </p:txBody>
      </p:sp>
      <p:cxnSp>
        <p:nvCxnSpPr>
          <p:cNvPr id="6" name="Прямая со стрелкой 5"/>
          <p:cNvCxnSpPr>
            <a:stCxn id="1028" idx="3"/>
            <a:endCxn id="1027" idx="1"/>
          </p:cNvCxnSpPr>
          <p:nvPr/>
        </p:nvCxnSpPr>
        <p:spPr>
          <a:xfrm flipV="1">
            <a:off x="3715591" y="3214758"/>
            <a:ext cx="1885503" cy="666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58011" y="187615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setTimeout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()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11351" y="819267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39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56" y="1453216"/>
            <a:ext cx="1609430" cy="1525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528" y="1586566"/>
            <a:ext cx="2154163" cy="1839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Прямая со стрелкой 5"/>
          <p:cNvCxnSpPr>
            <a:stCxn id="5" idx="3"/>
            <a:endCxn id="4" idx="1"/>
          </p:cNvCxnSpPr>
          <p:nvPr/>
        </p:nvCxnSpPr>
        <p:spPr>
          <a:xfrm flipV="1">
            <a:off x="3343691" y="2215726"/>
            <a:ext cx="2598365" cy="2904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499" y="4130363"/>
            <a:ext cx="1728192" cy="1637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323" y="3842331"/>
            <a:ext cx="2154163" cy="1839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Прямая со стрелкой 10"/>
          <p:cNvCxnSpPr>
            <a:endCxn id="5" idx="2"/>
          </p:cNvCxnSpPr>
          <p:nvPr/>
        </p:nvCxnSpPr>
        <p:spPr>
          <a:xfrm flipV="1">
            <a:off x="2266609" y="3425835"/>
            <a:ext cx="1" cy="70452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endCxn id="7" idx="3"/>
          </p:cNvCxnSpPr>
          <p:nvPr/>
        </p:nvCxnSpPr>
        <p:spPr>
          <a:xfrm flipH="1">
            <a:off x="3343691" y="4939529"/>
            <a:ext cx="2053632" cy="961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6746771" y="2978235"/>
            <a:ext cx="59381" cy="86409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365760" y="-7279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setinterval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19100" y="62437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63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Остановка таймера - </a:t>
            </a:r>
            <a:r>
              <a:rPr lang="en-US" dirty="0" err="1" smtClean="0"/>
              <a:t>clearInterval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1916832"/>
            <a:ext cx="4924425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 flipH="1" flipV="1">
            <a:off x="2699792" y="3068960"/>
            <a:ext cx="2160240" cy="43449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08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52" y="1079229"/>
            <a:ext cx="3651252" cy="2648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884" y="1303953"/>
            <a:ext cx="2295525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58011" y="187615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onresize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()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11351" y="819267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602" y="2898503"/>
            <a:ext cx="2733675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965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1.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Time is over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64" y="920699"/>
            <a:ext cx="1620372" cy="94521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435" y="915936"/>
            <a:ext cx="2233284" cy="94997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22" y="915937"/>
            <a:ext cx="2348061" cy="94997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71" y="2087612"/>
            <a:ext cx="7695707" cy="453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19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2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смена изображения по времени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812605"/>
            <a:ext cx="1683745" cy="168374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85" y="827500"/>
            <a:ext cx="1681888" cy="166885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47" y="2563872"/>
            <a:ext cx="6560295" cy="419055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454" y="820052"/>
            <a:ext cx="1681888" cy="166885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251" y="804584"/>
            <a:ext cx="1683745" cy="1683745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6037042" y="4489951"/>
            <a:ext cx="2700744" cy="17528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Промежуток между сменами </a:t>
            </a:r>
          </a:p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(в миллисекундах)</a:t>
            </a: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 flipH="1">
            <a:off x="5269424" y="4659149"/>
            <a:ext cx="767618" cy="707237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1945037" y="5387802"/>
            <a:ext cx="3828299" cy="295563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697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73" y="784682"/>
            <a:ext cx="7308250" cy="587362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3.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изменение скорости смены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758" y="988662"/>
            <a:ext cx="24479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8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4.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запуск/остановка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64" y="815644"/>
            <a:ext cx="7896764" cy="5827920"/>
          </a:xfrm>
          <a:prstGeom prst="rect">
            <a:avLst/>
          </a:prstGeom>
          <a:ln>
            <a:solidFill>
              <a:srgbClr val="404040"/>
            </a:solidFill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516" y="2553419"/>
            <a:ext cx="2497582" cy="2725498"/>
          </a:xfrm>
          <a:prstGeom prst="rect">
            <a:avLst/>
          </a:prstGeom>
          <a:ln>
            <a:solidFill>
              <a:srgbClr val="404040"/>
            </a:solidFill>
          </a:ln>
        </p:spPr>
      </p:pic>
    </p:spTree>
    <p:extLst>
      <p:ext uri="{BB962C8B-B14F-4D97-AF65-F5344CB8AC3E}">
        <p14:creationId xmlns:p14="http://schemas.microsoft.com/office/powerpoint/2010/main" val="3982424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0"/>
            <a:ext cx="8404859" cy="668752"/>
          </a:xfrm>
        </p:spPr>
        <p:txBody>
          <a:bodyPr>
            <a:normAutofit/>
          </a:bodyPr>
          <a:lstStyle/>
          <a:p>
            <a:pPr algn="ctr"/>
            <a: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практическое задание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33202" y="538403"/>
            <a:ext cx="8053597" cy="13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312420" y="754380"/>
            <a:ext cx="8747760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>
                <a:solidFill>
                  <a:srgbClr val="0070C0"/>
                </a:solidFill>
              </a:rPr>
              <a:t>Реализуйте на выбор одно из заданий</a:t>
            </a:r>
          </a:p>
          <a:p>
            <a:pPr algn="ctr"/>
            <a:endParaRPr lang="ru-RU" sz="3600" b="1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>
                <a:solidFill>
                  <a:srgbClr val="404040"/>
                </a:solidFill>
              </a:rPr>
              <a:t>Реализуйте галерею (не менее 4 изображений) с возможностью переключения режимов: </a:t>
            </a:r>
            <a:r>
              <a:rPr lang="ru-RU" dirty="0" smtClean="0">
                <a:solidFill>
                  <a:srgbClr val="404040"/>
                </a:solidFill>
              </a:rPr>
              <a:t>ручной/автоматический; в ручном режиме изображения должны сменяться по клику; в автоматическом режиме изображения должны изменяться каждую секунду </a:t>
            </a:r>
            <a:endParaRPr lang="ru-RU" dirty="0">
              <a:solidFill>
                <a:srgbClr val="40404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ru-RU" dirty="0" smtClean="0">
              <a:solidFill>
                <a:srgbClr val="40404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1" dirty="0" smtClean="0">
                <a:solidFill>
                  <a:srgbClr val="404040"/>
                </a:solidFill>
              </a:rPr>
              <a:t>Реализуйте изменение двух картинок с возможностью:</a:t>
            </a:r>
          </a:p>
          <a:p>
            <a:pPr marL="742950" lvl="1" indent="-285750">
              <a:buFont typeface="Calibri" panose="020F0502020204030204" pitchFamily="34" charset="0"/>
              <a:buChar char="‒"/>
            </a:pPr>
            <a:r>
              <a:rPr lang="ru-RU" dirty="0" smtClean="0">
                <a:solidFill>
                  <a:srgbClr val="404040"/>
                </a:solidFill>
              </a:rPr>
              <a:t>остановить изменение</a:t>
            </a:r>
          </a:p>
          <a:p>
            <a:pPr marL="742950" lvl="1" indent="-285750">
              <a:buFont typeface="Calibri" panose="020F0502020204030204" pitchFamily="34" charset="0"/>
              <a:buChar char="‒"/>
            </a:pPr>
            <a:r>
              <a:rPr lang="ru-RU" dirty="0" smtClean="0">
                <a:solidFill>
                  <a:srgbClr val="404040"/>
                </a:solidFill>
              </a:rPr>
              <a:t>запустить изменение</a:t>
            </a:r>
          </a:p>
          <a:p>
            <a:pPr marL="742950" lvl="1" indent="-285750">
              <a:buFont typeface="Calibri" panose="020F0502020204030204" pitchFamily="34" charset="0"/>
              <a:buChar char="‒"/>
            </a:pPr>
            <a:r>
              <a:rPr lang="ru-RU" dirty="0" smtClean="0">
                <a:solidFill>
                  <a:srgbClr val="404040"/>
                </a:solidFill>
              </a:rPr>
              <a:t>уменьшить/увеличить скорость смены</a:t>
            </a:r>
            <a:endParaRPr lang="ru-RU" dirty="0">
              <a:solidFill>
                <a:srgbClr val="40404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ru-RU" dirty="0">
              <a:solidFill>
                <a:srgbClr val="404040"/>
              </a:solidFill>
            </a:endParaRPr>
          </a:p>
          <a:p>
            <a:pPr marL="742950" indent="-742950" algn="ctr">
              <a:buAutoNum type="arabicPeriod"/>
            </a:pPr>
            <a:endParaRPr lang="ru-RU" sz="3600" b="1" dirty="0">
              <a:solidFill>
                <a:srgbClr val="0070C0"/>
              </a:solidFill>
            </a:endParaRPr>
          </a:p>
          <a:p>
            <a:pPr marL="742950" indent="-742950" algn="ctr">
              <a:buAutoNum type="arabicPeriod"/>
            </a:pPr>
            <a:endParaRPr lang="ru-RU" b="1" dirty="0">
              <a:solidFill>
                <a:srgbClr val="0070C0"/>
              </a:solidFill>
            </a:endParaRPr>
          </a:p>
          <a:p>
            <a:pPr algn="ctr"/>
            <a:endParaRPr lang="ru-RU" dirty="0">
              <a:solidFill>
                <a:srgbClr val="404040"/>
              </a:solidFill>
            </a:endParaRPr>
          </a:p>
          <a:p>
            <a:r>
              <a:rPr lang="ru-RU" dirty="0" smtClean="0">
                <a:solidFill>
                  <a:srgbClr val="404040"/>
                </a:solidFill>
              </a:rPr>
              <a:t> </a:t>
            </a:r>
            <a:endParaRPr lang="ru-RU" dirty="0">
              <a:solidFill>
                <a:srgbClr val="404040"/>
              </a:solidFill>
            </a:endParaRPr>
          </a:p>
          <a:p>
            <a:pPr marL="514350" indent="-514350">
              <a:buAutoNum type="arabicPeriod"/>
            </a:pP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663" y="4324028"/>
            <a:ext cx="1671136" cy="195173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642" y="4324028"/>
            <a:ext cx="1468450" cy="195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04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Документация и </a:t>
            </a:r>
            <a:b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справочные материалы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41390" y="1012587"/>
            <a:ext cx="8053597" cy="13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98304" y="1416583"/>
            <a:ext cx="8372998" cy="51856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err="1" smtClean="0">
                <a:solidFill>
                  <a:srgbClr val="404040"/>
                </a:solidFill>
              </a:rPr>
              <a:t>setTimeout</a:t>
            </a:r>
            <a:r>
              <a:rPr lang="en-US" sz="3200" b="1" dirty="0" smtClean="0">
                <a:solidFill>
                  <a:srgbClr val="404040"/>
                </a:solidFill>
              </a:rPr>
              <a:t> </a:t>
            </a:r>
            <a:r>
              <a:rPr lang="ru-RU" sz="3200" b="1" dirty="0" smtClean="0">
                <a:solidFill>
                  <a:srgbClr val="404040"/>
                </a:solidFill>
              </a:rPr>
              <a:t>и </a:t>
            </a:r>
            <a:r>
              <a:rPr lang="en-US" sz="3200" b="1" dirty="0" err="1" smtClean="0">
                <a:solidFill>
                  <a:srgbClr val="404040"/>
                </a:solidFill>
              </a:rPr>
              <a:t>setInterval</a:t>
            </a:r>
            <a:endParaRPr lang="ru-RU" sz="3200" b="1" dirty="0">
              <a:solidFill>
                <a:srgbClr val="404040"/>
              </a:solidFill>
            </a:endParaRPr>
          </a:p>
          <a:p>
            <a:r>
              <a:rPr lang="en-US" sz="3200" dirty="0" smtClean="0">
                <a:solidFill>
                  <a:srgbClr val="404040"/>
                </a:solidFill>
                <a:hlinkClick r:id="rId2"/>
              </a:rPr>
              <a:t>learn.javascript.ru/</a:t>
            </a:r>
            <a:r>
              <a:rPr lang="en-US" sz="3200" dirty="0" err="1" smtClean="0">
                <a:solidFill>
                  <a:srgbClr val="404040"/>
                </a:solidFill>
                <a:hlinkClick r:id="rId2"/>
              </a:rPr>
              <a:t>settimeout-setinterval</a:t>
            </a:r>
            <a:endParaRPr lang="en-US" sz="3200" dirty="0" smtClean="0">
              <a:solidFill>
                <a:srgbClr val="404040"/>
              </a:solidFill>
            </a:endParaRPr>
          </a:p>
          <a:p>
            <a:endParaRPr lang="ru-RU" sz="3200" b="1" dirty="0" smtClean="0">
              <a:solidFill>
                <a:srgbClr val="404040"/>
              </a:solidFill>
            </a:endParaRPr>
          </a:p>
          <a:p>
            <a:r>
              <a:rPr lang="ru-RU" sz="3200" b="1" dirty="0" smtClean="0">
                <a:solidFill>
                  <a:srgbClr val="404040"/>
                </a:solidFill>
              </a:rPr>
              <a:t>Документация </a:t>
            </a:r>
            <a:r>
              <a:rPr lang="en-US" sz="3200" b="1" dirty="0">
                <a:solidFill>
                  <a:srgbClr val="404040"/>
                </a:solidFill>
              </a:rPr>
              <a:t>Mozilla </a:t>
            </a:r>
            <a:r>
              <a:rPr lang="en-US" sz="3200" dirty="0" smtClean="0">
                <a:solidFill>
                  <a:srgbClr val="404040"/>
                </a:solidFill>
              </a:rPr>
              <a:t>(</a:t>
            </a:r>
            <a:r>
              <a:rPr lang="en-US" sz="3200" dirty="0" err="1" smtClean="0">
                <a:solidFill>
                  <a:srgbClr val="404040"/>
                </a:solidFill>
              </a:rPr>
              <a:t>setInterval</a:t>
            </a:r>
            <a:r>
              <a:rPr lang="en-US" sz="3200" dirty="0">
                <a:solidFill>
                  <a:srgbClr val="404040"/>
                </a:solidFill>
              </a:rPr>
              <a:t>)</a:t>
            </a:r>
            <a:endParaRPr lang="ru-RU" sz="3200" dirty="0">
              <a:solidFill>
                <a:srgbClr val="404040"/>
              </a:solidFill>
            </a:endParaRPr>
          </a:p>
          <a:p>
            <a:r>
              <a:rPr lang="en-US" sz="3200" dirty="0" smtClean="0">
                <a:solidFill>
                  <a:srgbClr val="404040"/>
                </a:solidFill>
                <a:hlinkClick r:id="rId3"/>
              </a:rPr>
              <a:t>developer.mozilla.org/</a:t>
            </a:r>
            <a:r>
              <a:rPr lang="en-US" sz="3200" dirty="0" err="1" smtClean="0">
                <a:solidFill>
                  <a:srgbClr val="404040"/>
                </a:solidFill>
                <a:hlinkClick r:id="rId3"/>
              </a:rPr>
              <a:t>ru</a:t>
            </a:r>
            <a:r>
              <a:rPr lang="en-US" sz="3200" dirty="0" smtClean="0">
                <a:solidFill>
                  <a:srgbClr val="404040"/>
                </a:solidFill>
                <a:hlinkClick r:id="rId3"/>
              </a:rPr>
              <a:t>/docs/Web/API/</a:t>
            </a:r>
            <a:r>
              <a:rPr lang="en-US" sz="3200" dirty="0" err="1" smtClean="0">
                <a:solidFill>
                  <a:srgbClr val="404040"/>
                </a:solidFill>
                <a:hlinkClick r:id="rId3"/>
              </a:rPr>
              <a:t>WindowOrWorkerGlobalScope</a:t>
            </a:r>
            <a:r>
              <a:rPr lang="en-US" sz="3200" dirty="0" smtClean="0">
                <a:solidFill>
                  <a:srgbClr val="404040"/>
                </a:solidFill>
                <a:hlinkClick r:id="rId3"/>
              </a:rPr>
              <a:t>/</a:t>
            </a:r>
            <a:r>
              <a:rPr lang="en-US" sz="3200" dirty="0" err="1" smtClean="0">
                <a:solidFill>
                  <a:srgbClr val="404040"/>
                </a:solidFill>
                <a:hlinkClick r:id="rId3"/>
              </a:rPr>
              <a:t>setInterval</a:t>
            </a:r>
            <a:endParaRPr lang="en-US" sz="3200" dirty="0" smtClean="0">
              <a:solidFill>
                <a:srgbClr val="404040"/>
              </a:solidFill>
            </a:endParaRPr>
          </a:p>
          <a:p>
            <a:endParaRPr lang="en-US" sz="3200" b="1" dirty="0" smtClean="0">
              <a:solidFill>
                <a:srgbClr val="404040"/>
              </a:solidFill>
            </a:endParaRPr>
          </a:p>
          <a:p>
            <a:r>
              <a:rPr lang="en-US" sz="3200" b="1" dirty="0" smtClean="0">
                <a:solidFill>
                  <a:srgbClr val="404040"/>
                </a:solidFill>
              </a:rPr>
              <a:t>w3schools </a:t>
            </a:r>
            <a:r>
              <a:rPr lang="en-US" sz="3200" dirty="0">
                <a:solidFill>
                  <a:srgbClr val="404040"/>
                </a:solidFill>
              </a:rPr>
              <a:t>(</a:t>
            </a:r>
            <a:r>
              <a:rPr lang="en-US" sz="3200" dirty="0" err="1">
                <a:solidFill>
                  <a:srgbClr val="404040"/>
                </a:solidFill>
              </a:rPr>
              <a:t>setInterval</a:t>
            </a:r>
            <a:r>
              <a:rPr lang="en-US" sz="3200" dirty="0">
                <a:solidFill>
                  <a:srgbClr val="404040"/>
                </a:solidFill>
              </a:rPr>
              <a:t>)</a:t>
            </a:r>
            <a:endParaRPr lang="en-US" sz="3200" b="1" dirty="0">
              <a:solidFill>
                <a:srgbClr val="404040"/>
              </a:solidFill>
            </a:endParaRPr>
          </a:p>
          <a:p>
            <a:r>
              <a:rPr lang="en-US" sz="3200" dirty="0" smtClean="0">
                <a:solidFill>
                  <a:srgbClr val="404040"/>
                </a:solidFill>
                <a:hlinkClick r:id="rId4"/>
              </a:rPr>
              <a:t>w3schools.com/</a:t>
            </a:r>
            <a:r>
              <a:rPr lang="en-US" sz="3200" dirty="0" err="1" smtClean="0">
                <a:solidFill>
                  <a:srgbClr val="404040"/>
                </a:solidFill>
                <a:hlinkClick r:id="rId4"/>
              </a:rPr>
              <a:t>jsref</a:t>
            </a:r>
            <a:r>
              <a:rPr lang="en-US" sz="3200" dirty="0" smtClean="0">
                <a:solidFill>
                  <a:srgbClr val="404040"/>
                </a:solidFill>
                <a:hlinkClick r:id="rId4"/>
              </a:rPr>
              <a:t>/met_win_setinterval.asp</a:t>
            </a:r>
            <a:endParaRPr lang="en-US" sz="3200" dirty="0" smtClean="0">
              <a:solidFill>
                <a:srgbClr val="404040"/>
              </a:solidFill>
            </a:endParaRPr>
          </a:p>
          <a:p>
            <a:endParaRPr lang="en-US" sz="3200" dirty="0">
              <a:solidFill>
                <a:srgbClr val="40404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02899" y="1508170"/>
            <a:ext cx="7709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spcAft>
                <a:spcPts val="1200"/>
              </a:spcAft>
              <a:buFont typeface="+mj-lt"/>
              <a:buAutoNum type="arabicPeriod"/>
            </a:pPr>
            <a:endParaRPr lang="ru-RU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358775" indent="-358775">
              <a:spcAft>
                <a:spcPts val="1200"/>
              </a:spcAft>
              <a:buFont typeface="+mj-lt"/>
              <a:buAutoNum type="arabicPeriod"/>
            </a:pPr>
            <a:endParaRPr lang="en-US" sz="28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569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13358" y="464820"/>
            <a:ext cx="5169622" cy="5966460"/>
          </a:xfrm>
          <a:prstGeom prst="rect">
            <a:avLst/>
          </a:prstGeom>
          <a:solidFill>
            <a:srgbClr val="89CF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6279" y="217905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225969" y="3091298"/>
            <a:ext cx="5227320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 rot="811255">
            <a:off x="7726031" y="1802830"/>
            <a:ext cx="867545" cy="255454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16000" dirty="0">
                <a:solidFill>
                  <a:srgbClr val="F2F2F2"/>
                </a:solidFill>
                <a:latin typeface="Arial Black" panose="020B0A040201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8020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4891</TotalTime>
  <Words>142</Words>
  <Application>Microsoft Office PowerPoint</Application>
  <PresentationFormat>Экран (4:3)</PresentationFormat>
  <Paragraphs>49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Aharoni</vt:lpstr>
      <vt:lpstr>Arial</vt:lpstr>
      <vt:lpstr>Arial Black</vt:lpstr>
      <vt:lpstr>Calibri</vt:lpstr>
      <vt:lpstr>Calibri Light</vt:lpstr>
      <vt:lpstr>Тема Office</vt:lpstr>
      <vt:lpstr> JavaScript  Пестунов Андрей Игоревич заведующий кафедрой информационных технологий     Лекция 1.3. JavaScript и браузер   </vt:lpstr>
      <vt:lpstr>методы/события браузера</vt:lpstr>
      <vt:lpstr>setTimeout()</vt:lpstr>
      <vt:lpstr>setinterval</vt:lpstr>
      <vt:lpstr>Остановка таймера - clearInterval</vt:lpstr>
      <vt:lpstr>onresize()</vt:lpstr>
      <vt:lpstr>пример 1. Time is over</vt:lpstr>
      <vt:lpstr>пример 2. смена изображения по времени</vt:lpstr>
      <vt:lpstr>пример 3. изменение скорости смены</vt:lpstr>
      <vt:lpstr>пример 4. запуск/остановка</vt:lpstr>
      <vt:lpstr>практическое задание</vt:lpstr>
      <vt:lpstr>Документация и  справочные материалы</vt:lpstr>
      <vt:lpstr>Спасибо за внимание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pestunov@gmail.com</dc:creator>
  <cp:lastModifiedBy>Пестунов Андрей Игоревич</cp:lastModifiedBy>
  <cp:revision>1069</cp:revision>
  <dcterms:created xsi:type="dcterms:W3CDTF">2018-10-06T02:43:53Z</dcterms:created>
  <dcterms:modified xsi:type="dcterms:W3CDTF">2021-02-19T05:50:41Z</dcterms:modified>
</cp:coreProperties>
</file>