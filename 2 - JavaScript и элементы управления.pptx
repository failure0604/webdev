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368" r:id="rId3"/>
    <p:sldId id="392" r:id="rId4"/>
    <p:sldId id="387" r:id="rId5"/>
    <p:sldId id="391" r:id="rId6"/>
    <p:sldId id="386" r:id="rId7"/>
    <p:sldId id="394" r:id="rId8"/>
    <p:sldId id="395" r:id="rId9"/>
    <p:sldId id="379" r:id="rId10"/>
    <p:sldId id="341" r:id="rId11"/>
    <p:sldId id="367" r:id="rId12"/>
    <p:sldId id="312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362F416-ED43-4566-BB0F-137E38F0BD5E}">
          <p14:sldIdLst>
            <p14:sldId id="256"/>
            <p14:sldId id="368"/>
            <p14:sldId id="392"/>
            <p14:sldId id="387"/>
            <p14:sldId id="391"/>
            <p14:sldId id="386"/>
            <p14:sldId id="394"/>
            <p14:sldId id="395"/>
            <p14:sldId id="379"/>
            <p14:sldId id="341"/>
            <p14:sldId id="367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404040"/>
    <a:srgbClr val="F2F2F2"/>
    <a:srgbClr val="1E1E1E"/>
    <a:srgbClr val="B1D581"/>
    <a:srgbClr val="F6D660"/>
    <a:srgbClr val="89CF89"/>
    <a:srgbClr val="F9EAB4"/>
    <a:srgbClr val="FFF2CC"/>
    <a:srgbClr val="88CE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4" autoAdjust="0"/>
    <p:restoredTop sz="95820" autoAdjust="0"/>
  </p:normalViewPr>
  <p:slideViewPr>
    <p:cSldViewPr snapToGrid="0">
      <p:cViewPr varScale="1">
        <p:scale>
          <a:sx n="75" d="100"/>
          <a:sy n="75" d="100"/>
        </p:scale>
        <p:origin x="60" y="7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1EA05-DCE4-441D-A9E6-4D034D25250E}" type="datetimeFigureOut">
              <a:rPr lang="ru-RU" smtClean="0"/>
              <a:t>09.02.2021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D7B2F-4617-4A74-808C-1A629B3A91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87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09.02.2021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6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09.02.2021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12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09.02.2021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86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09.02.2021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39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09.02.2021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95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09.02.2021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212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09.02.2021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106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09.02.2021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596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09.02.2021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346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09.02.2021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196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A0DD-B79F-41A2-8137-7FE4D6F2B9C7}" type="datetimeFigureOut">
              <a:rPr lang="ru-RU" smtClean="0"/>
              <a:t>09.02.2021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43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D5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6A0DD-B79F-41A2-8137-7FE4D6F2B9C7}" type="datetimeFigureOut">
              <a:rPr lang="ru-RU" smtClean="0"/>
              <a:t>09.02.2021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2CE15-7EB5-4E8C-A187-05043DF1AE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61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ru/docs/Web/HTML/Element/Input/range" TargetMode="External"/><Relationship Id="rId2" Type="http://schemas.openxmlformats.org/officeDocument/2006/relationships/hyperlink" Target="https://developer.mozilla.org/en-US/docs/Learn/Forms/HTML5_input_typ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jsref/event_onchange.asp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3443" y="1599681"/>
            <a:ext cx="7783551" cy="4600620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2800" b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2800" b="1" dirty="0">
                <a:latin typeface="Arial Black" panose="020B0A04020102020204" pitchFamily="34" charset="0"/>
                <a:cs typeface="Aharoni" panose="02010803020104030203" pitchFamily="2" charset="-79"/>
              </a:rPr>
              <a:t>JavaScript</a:t>
            </a:r>
            <a:r>
              <a:rPr lang="ru-RU" sz="2800" b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2800" b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3000" b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3000" b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>Пестунов Андрей Игоревич</a:t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4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>заведующий кафедрой информационных технологий</a:t>
            </a: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en-US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2400" b="1" dirty="0">
                <a:latin typeface="Arial Black" panose="020B0A04020102020204" pitchFamily="34" charset="0"/>
                <a:cs typeface="Aharoni" panose="02010803020104030203" pitchFamily="2" charset="-79"/>
              </a:rPr>
              <a:t>Лекция </a:t>
            </a:r>
            <a:r>
              <a:rPr lang="en-US" sz="2400" b="1" dirty="0" smtClean="0">
                <a:latin typeface="Arial Black" panose="020B0A04020102020204" pitchFamily="34" charset="0"/>
                <a:cs typeface="Aharoni" panose="02010803020104030203" pitchFamily="2" charset="-79"/>
              </a:rPr>
              <a:t>1.2</a:t>
            </a:r>
            <a:r>
              <a:rPr lang="ru-RU" sz="2400" b="1" dirty="0" smtClean="0">
                <a:latin typeface="Arial Black" panose="020B0A04020102020204" pitchFamily="34" charset="0"/>
                <a:cs typeface="Aharoni" panose="02010803020104030203" pitchFamily="2" charset="-79"/>
              </a:rPr>
              <a:t>. </a:t>
            </a:r>
            <a:r>
              <a:rPr lang="en-US" sz="2400" b="1" dirty="0" smtClean="0">
                <a:latin typeface="Arial Black" panose="020B0A04020102020204" pitchFamily="34" charset="0"/>
                <a:cs typeface="Aharoni" panose="02010803020104030203" pitchFamily="2" charset="-79"/>
              </a:rPr>
              <a:t>JavaScript </a:t>
            </a:r>
            <a:r>
              <a:rPr lang="ru-RU" sz="2400" b="1" dirty="0" smtClean="0">
                <a:latin typeface="Arial Black" panose="020B0A04020102020204" pitchFamily="34" charset="0"/>
                <a:cs typeface="Aharoni" panose="02010803020104030203" pitchFamily="2" charset="-79"/>
              </a:rPr>
              <a:t>и элементы управления</a:t>
            </a:r>
            <a:r>
              <a:rPr lang="ru-RU" sz="2400" b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2400" b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  <a:t/>
            </a:r>
            <a:br>
              <a:rPr lang="ru-RU" sz="1800" b="1" i="1" dirty="0">
                <a:latin typeface="Arial Black" panose="020B0A04020102020204" pitchFamily="34" charset="0"/>
                <a:cs typeface="Aharoni" panose="02010803020104030203" pitchFamily="2" charset="-79"/>
              </a:rPr>
            </a:br>
            <a:endParaRPr lang="ru-RU" sz="3000" b="1" i="1" dirty="0">
              <a:latin typeface="Arial Black" panose="020B0A04020102020204" pitchFamily="34" charset="0"/>
              <a:ea typeface="+mn-ea"/>
              <a:cs typeface="+mn-cs"/>
            </a:endParaRPr>
          </a:p>
        </p:txBody>
      </p:sp>
      <p:pic>
        <p:nvPicPr>
          <p:cNvPr id="9" name="Picture 2" descr="https://nsuem.ru/local/assets/images/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44" y="721343"/>
            <a:ext cx="2308452" cy="81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922" y="486935"/>
            <a:ext cx="2427694" cy="117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37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7279"/>
            <a:ext cx="8404859" cy="754039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обеспечение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usability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или </a:t>
            </a:r>
            <a:r>
              <a:rPr lang="en-US" sz="2400" cap="all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ux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/</a:t>
            </a:r>
            <a:r>
              <a:rPr lang="en-US" sz="2400" cap="all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ui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-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дизайн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62437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1" y="1074190"/>
            <a:ext cx="6637482" cy="112818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004" y="2529804"/>
            <a:ext cx="6648615" cy="73873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7" name="Прямая соединительная линия 6"/>
          <p:cNvCxnSpPr/>
          <p:nvPr/>
        </p:nvCxnSpPr>
        <p:spPr>
          <a:xfrm flipV="1">
            <a:off x="1394691" y="914400"/>
            <a:ext cx="2733964" cy="14501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1600200" y="913227"/>
            <a:ext cx="2137642" cy="12608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5092700" y="3595969"/>
            <a:ext cx="3677919" cy="2051657"/>
          </a:xfrm>
          <a:prstGeom prst="rect">
            <a:avLst/>
          </a:prstGeom>
          <a:solidFill>
            <a:srgbClr val="D9D9D9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rgbClr val="404040"/>
                </a:solidFill>
              </a:rPr>
              <a:t>Для обеспечения удобства пользования предлагается </a:t>
            </a:r>
            <a:r>
              <a:rPr lang="ru-RU" sz="2400" b="1" dirty="0" smtClean="0">
                <a:solidFill>
                  <a:srgbClr val="404040"/>
                </a:solidFill>
              </a:rPr>
              <a:t>избавить пользователя от необходимости нажимать на кнопку</a:t>
            </a:r>
            <a:endParaRPr lang="en-US" sz="2400" b="1" dirty="0">
              <a:solidFill>
                <a:srgbClr val="404040"/>
              </a:solidFill>
            </a:endParaRP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 flipH="1" flipV="1">
            <a:off x="6413500" y="3268539"/>
            <a:ext cx="12700" cy="3274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7646" y="4147553"/>
            <a:ext cx="2188607" cy="1771729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57236"/>
            <a:ext cx="2143761" cy="2333715"/>
          </a:xfrm>
          <a:prstGeom prst="rect">
            <a:avLst/>
          </a:prstGeom>
        </p:spPr>
      </p:pic>
      <p:cxnSp>
        <p:nvCxnSpPr>
          <p:cNvPr id="17" name="Прямая соединительная линия 16"/>
          <p:cNvCxnSpPr/>
          <p:nvPr/>
        </p:nvCxnSpPr>
        <p:spPr>
          <a:xfrm flipV="1">
            <a:off x="233218" y="4775200"/>
            <a:ext cx="2276303" cy="133581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438727" y="4659727"/>
            <a:ext cx="2137642" cy="12608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66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7279"/>
            <a:ext cx="8404859" cy="754039"/>
          </a:xfrm>
        </p:spPr>
        <p:txBody>
          <a:bodyPr>
            <a:normAutofit/>
          </a:bodyPr>
          <a:lstStyle/>
          <a:p>
            <a:pPr algn="ctr"/>
            <a:r>
              <a:rPr lang="en-US" sz="2400" cap="al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onclick</a:t>
            </a:r>
            <a:r>
              <a:rPr lang="en-US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vs </a:t>
            </a:r>
            <a:r>
              <a:rPr lang="en-US" sz="2400" cap="al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onchange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62437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949210"/>
            <a:ext cx="8373510" cy="93039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2082050"/>
            <a:ext cx="8337200" cy="104215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19100" y="3472843"/>
            <a:ext cx="3162300" cy="27247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 smtClean="0">
                <a:solidFill>
                  <a:srgbClr val="404040"/>
                </a:solidFill>
              </a:rPr>
              <a:t>onclick</a:t>
            </a:r>
            <a:endParaRPr lang="en-US" sz="2800" b="1" dirty="0" smtClean="0">
              <a:solidFill>
                <a:srgbClr val="404040"/>
              </a:solidFill>
            </a:endParaRPr>
          </a:p>
          <a:p>
            <a:pPr algn="ctr"/>
            <a:r>
              <a:rPr lang="ru-RU" sz="2800" dirty="0" smtClean="0">
                <a:solidFill>
                  <a:srgbClr val="404040"/>
                </a:solidFill>
              </a:rPr>
              <a:t>срабатывает </a:t>
            </a:r>
            <a:endParaRPr lang="en-US" sz="2800" dirty="0" smtClean="0">
              <a:solidFill>
                <a:srgbClr val="404040"/>
              </a:solidFill>
            </a:endParaRPr>
          </a:p>
          <a:p>
            <a:pPr algn="ctr"/>
            <a:r>
              <a:rPr lang="ru-RU" sz="2800" dirty="0" smtClean="0">
                <a:solidFill>
                  <a:srgbClr val="404040"/>
                </a:solidFill>
              </a:rPr>
              <a:t>по нажатию</a:t>
            </a:r>
            <a:r>
              <a:rPr lang="en-US" sz="2800" dirty="0" smtClean="0">
                <a:solidFill>
                  <a:srgbClr val="404040"/>
                </a:solidFill>
              </a:rPr>
              <a:t> (</a:t>
            </a:r>
            <a:r>
              <a:rPr lang="ru-RU" sz="2800" dirty="0" smtClean="0">
                <a:solidFill>
                  <a:srgbClr val="404040"/>
                </a:solidFill>
              </a:rPr>
              <a:t>например, мышью</a:t>
            </a:r>
            <a:r>
              <a:rPr lang="en-US" sz="2800" dirty="0" smtClean="0">
                <a:solidFill>
                  <a:srgbClr val="404040"/>
                </a:solidFill>
              </a:rPr>
              <a:t>)</a:t>
            </a:r>
            <a:endParaRPr lang="en-US" sz="2800" dirty="0">
              <a:solidFill>
                <a:srgbClr val="40404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605855" y="3472842"/>
            <a:ext cx="3162300" cy="27247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 smtClean="0">
                <a:solidFill>
                  <a:srgbClr val="404040"/>
                </a:solidFill>
              </a:rPr>
              <a:t>onchange</a:t>
            </a:r>
            <a:endParaRPr lang="en-US" sz="2800" b="1" dirty="0" smtClean="0">
              <a:solidFill>
                <a:srgbClr val="404040"/>
              </a:solidFill>
            </a:endParaRPr>
          </a:p>
          <a:p>
            <a:pPr algn="ctr"/>
            <a:r>
              <a:rPr lang="ru-RU" sz="2800" dirty="0" smtClean="0">
                <a:solidFill>
                  <a:srgbClr val="404040"/>
                </a:solidFill>
              </a:rPr>
              <a:t>срабатывает </a:t>
            </a:r>
            <a:endParaRPr lang="en-US" sz="2800" dirty="0" smtClean="0">
              <a:solidFill>
                <a:srgbClr val="404040"/>
              </a:solidFill>
            </a:endParaRPr>
          </a:p>
          <a:p>
            <a:pPr algn="ctr"/>
            <a:r>
              <a:rPr lang="ru-RU" sz="2800" dirty="0" smtClean="0">
                <a:solidFill>
                  <a:srgbClr val="404040"/>
                </a:solidFill>
              </a:rPr>
              <a:t>при изменении значения любым способом (в </a:t>
            </a:r>
            <a:r>
              <a:rPr lang="ru-RU" sz="2800" dirty="0" err="1" smtClean="0">
                <a:solidFill>
                  <a:srgbClr val="404040"/>
                </a:solidFill>
              </a:rPr>
              <a:t>т.ч</a:t>
            </a:r>
            <a:r>
              <a:rPr lang="ru-RU" sz="2800" dirty="0" smtClean="0">
                <a:solidFill>
                  <a:srgbClr val="404040"/>
                </a:solidFill>
              </a:rPr>
              <a:t>. клавиатурой)</a:t>
            </a:r>
            <a:endParaRPr lang="en-US" sz="28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199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7279"/>
            <a:ext cx="8404859" cy="754039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1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.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событие </a:t>
            </a:r>
            <a:r>
              <a:rPr lang="en-US" sz="2400" cap="all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onchange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и </a:t>
            </a:r>
            <a:r>
              <a:rPr lang="en-US" sz="2400" cap="all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combobox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624373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42" y="828241"/>
            <a:ext cx="6037840" cy="595583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999" y="923810"/>
            <a:ext cx="5235462" cy="581718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4886036" y="3625243"/>
            <a:ext cx="3469442" cy="273861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rgbClr val="404040"/>
                </a:solidFill>
              </a:rPr>
              <a:t>При использовании события </a:t>
            </a:r>
            <a:r>
              <a:rPr lang="en-US" sz="2400" dirty="0" err="1" smtClean="0">
                <a:solidFill>
                  <a:srgbClr val="404040"/>
                </a:solidFill>
              </a:rPr>
              <a:t>onchange</a:t>
            </a:r>
            <a:r>
              <a:rPr lang="en-US" sz="2400" dirty="0" smtClean="0">
                <a:solidFill>
                  <a:srgbClr val="404040"/>
                </a:solidFill>
              </a:rPr>
              <a:t> </a:t>
            </a:r>
            <a:r>
              <a:rPr lang="ru-RU" sz="2400" b="1" dirty="0" smtClean="0">
                <a:solidFill>
                  <a:srgbClr val="404040"/>
                </a:solidFill>
              </a:rPr>
              <a:t>описание категории изменяется и при нажатии кнопок </a:t>
            </a:r>
            <a:r>
              <a:rPr lang="ru-RU" sz="2400" dirty="0" smtClean="0">
                <a:solidFill>
                  <a:srgbClr val="404040"/>
                </a:solidFill>
              </a:rPr>
              <a:t>«вверх»/вниз </a:t>
            </a:r>
            <a:endParaRPr lang="en-US" sz="2400" dirty="0">
              <a:solidFill>
                <a:srgbClr val="404040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581891" y="4341091"/>
            <a:ext cx="3375815" cy="235159"/>
          </a:xfrm>
          <a:prstGeom prst="rect">
            <a:avLst/>
          </a:prstGeom>
          <a:noFill/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404040"/>
              </a:solidFill>
            </a:endParaRPr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 flipH="1">
            <a:off x="3957707" y="4458670"/>
            <a:ext cx="961989" cy="0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6105236" y="1682578"/>
            <a:ext cx="3038764" cy="12121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solidFill>
                  <a:srgbClr val="404040"/>
                </a:solidFill>
              </a:rPr>
              <a:t>innerHTML</a:t>
            </a:r>
            <a:r>
              <a:rPr lang="ru-RU" sz="2000" dirty="0" smtClean="0">
                <a:solidFill>
                  <a:srgbClr val="404040"/>
                </a:solidFill>
              </a:rPr>
              <a:t> </a:t>
            </a:r>
            <a:endParaRPr lang="en-US" sz="2000" dirty="0" smtClean="0">
              <a:solidFill>
                <a:srgbClr val="404040"/>
              </a:solidFill>
            </a:endParaRPr>
          </a:p>
          <a:p>
            <a:pPr algn="ctr"/>
            <a:r>
              <a:rPr lang="ru-RU" sz="2000" dirty="0" smtClean="0">
                <a:solidFill>
                  <a:srgbClr val="404040"/>
                </a:solidFill>
              </a:rPr>
              <a:t>позволяет обратиться к тексту внутри тегов </a:t>
            </a:r>
            <a:r>
              <a:rPr lang="en-US" sz="2000" b="1" dirty="0" smtClean="0">
                <a:solidFill>
                  <a:srgbClr val="404040"/>
                </a:solidFill>
              </a:rPr>
              <a:t>&lt;span&gt;…&lt;/span&gt;</a:t>
            </a:r>
            <a:endParaRPr lang="en-US" sz="2000" b="1" dirty="0">
              <a:solidFill>
                <a:srgbClr val="404040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1911927" y="2200749"/>
            <a:ext cx="1634838" cy="235159"/>
          </a:xfrm>
          <a:prstGeom prst="rect">
            <a:avLst/>
          </a:prstGeom>
          <a:noFill/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404040"/>
              </a:solidFill>
            </a:endParaRP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 flipH="1">
            <a:off x="3546765" y="2200749"/>
            <a:ext cx="2697017" cy="0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808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" y="1141548"/>
            <a:ext cx="6833611" cy="556728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99588"/>
            <a:ext cx="8404859" cy="754039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2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.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событие </a:t>
            </a:r>
            <a:r>
              <a:rPr lang="en-US" sz="2400" cap="all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onchange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b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и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spinner (number)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100" y="890835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5948218" y="1809765"/>
            <a:ext cx="2977835" cy="320112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>
                <a:solidFill>
                  <a:srgbClr val="404040"/>
                </a:solidFill>
              </a:rPr>
              <a:t>При использовании события </a:t>
            </a:r>
            <a:r>
              <a:rPr lang="en-US" sz="2400" dirty="0" err="1" smtClean="0">
                <a:solidFill>
                  <a:srgbClr val="404040"/>
                </a:solidFill>
              </a:rPr>
              <a:t>onchange</a:t>
            </a:r>
            <a:r>
              <a:rPr lang="en-US" sz="2400" dirty="0" smtClean="0">
                <a:solidFill>
                  <a:srgbClr val="404040"/>
                </a:solidFill>
              </a:rPr>
              <a:t> </a:t>
            </a:r>
            <a:r>
              <a:rPr lang="ru-RU" sz="2400" dirty="0" smtClean="0">
                <a:solidFill>
                  <a:srgbClr val="404040"/>
                </a:solidFill>
              </a:rPr>
              <a:t>делители пересчитываются </a:t>
            </a:r>
            <a:r>
              <a:rPr lang="ru-RU" sz="2400" b="1" dirty="0" smtClean="0">
                <a:solidFill>
                  <a:srgbClr val="404040"/>
                </a:solidFill>
              </a:rPr>
              <a:t>и при нажатии кнопок </a:t>
            </a:r>
            <a:r>
              <a:rPr lang="ru-RU" sz="2400" dirty="0" smtClean="0">
                <a:solidFill>
                  <a:srgbClr val="404040"/>
                </a:solidFill>
              </a:rPr>
              <a:t>«вверх»/«вниз» и при вводе числа с клавиатуры</a:t>
            </a:r>
            <a:endParaRPr lang="en-US" sz="2400" dirty="0">
              <a:solidFill>
                <a:srgbClr val="40404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477" y="1079775"/>
            <a:ext cx="7219142" cy="515653"/>
          </a:xfrm>
          <a:prstGeom prst="rect">
            <a:avLst/>
          </a:prstGeom>
        </p:spPr>
      </p:pic>
      <p:sp>
        <p:nvSpPr>
          <p:cNvPr id="20" name="Прямоугольник 19"/>
          <p:cNvSpPr/>
          <p:nvPr/>
        </p:nvSpPr>
        <p:spPr>
          <a:xfrm>
            <a:off x="4036291" y="5225228"/>
            <a:ext cx="2881745" cy="353536"/>
          </a:xfrm>
          <a:prstGeom prst="rect">
            <a:avLst/>
          </a:prstGeom>
          <a:noFill/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404040"/>
              </a:solidFill>
            </a:endParaRPr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6197600" y="4664364"/>
            <a:ext cx="0" cy="560864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919018" y="2474586"/>
            <a:ext cx="2978727" cy="231669"/>
          </a:xfrm>
          <a:prstGeom prst="rect">
            <a:avLst/>
          </a:prstGeom>
          <a:noFill/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404040"/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3890372" y="1657201"/>
            <a:ext cx="1911927" cy="22157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>
                <a:solidFill>
                  <a:srgbClr val="404040"/>
                </a:solidFill>
              </a:rPr>
              <a:t>parseInt</a:t>
            </a:r>
            <a:endParaRPr lang="ru-RU" sz="2000" dirty="0" smtClean="0">
              <a:solidFill>
                <a:srgbClr val="404040"/>
              </a:solidFill>
            </a:endParaRPr>
          </a:p>
          <a:p>
            <a:pPr algn="ctr"/>
            <a:r>
              <a:rPr lang="en-US" sz="2000" dirty="0" smtClean="0">
                <a:solidFill>
                  <a:srgbClr val="404040"/>
                </a:solidFill>
              </a:rPr>
              <a:t>value – </a:t>
            </a:r>
            <a:r>
              <a:rPr lang="ru-RU" sz="2000" dirty="0" smtClean="0">
                <a:solidFill>
                  <a:srgbClr val="404040"/>
                </a:solidFill>
              </a:rPr>
              <a:t>это текст по умолчанию, т.е. вместо </a:t>
            </a:r>
            <a:r>
              <a:rPr lang="ru-RU" sz="2000" b="1" dirty="0" smtClean="0">
                <a:solidFill>
                  <a:srgbClr val="404040"/>
                </a:solidFill>
              </a:rPr>
              <a:t>«120»</a:t>
            </a:r>
            <a:r>
              <a:rPr lang="ru-RU" sz="2000" dirty="0" smtClean="0">
                <a:solidFill>
                  <a:srgbClr val="404040"/>
                </a:solidFill>
              </a:rPr>
              <a:t> мы должны получить </a:t>
            </a:r>
            <a:r>
              <a:rPr lang="ru-RU" sz="2000" b="1" dirty="0" smtClean="0">
                <a:solidFill>
                  <a:srgbClr val="404040"/>
                </a:solidFill>
              </a:rPr>
              <a:t>120</a:t>
            </a:r>
            <a:endParaRPr lang="en-US" sz="2000" b="1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785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3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.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событие </a:t>
            </a:r>
            <a:r>
              <a:rPr lang="en-US" sz="2400" cap="al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onchange</a:t>
            </a:r>
            <a:r>
              <a:rPr lang="en-US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и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range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64" y="2360612"/>
            <a:ext cx="8621515" cy="431727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64" y="1117828"/>
            <a:ext cx="5333168" cy="666646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6100354" y="1874982"/>
            <a:ext cx="2700744" cy="17528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 smtClean="0">
                <a:solidFill>
                  <a:srgbClr val="404040"/>
                </a:solidFill>
              </a:rPr>
              <a:t>onchange</a:t>
            </a:r>
            <a:r>
              <a:rPr lang="en-US" sz="2000" dirty="0" smtClean="0">
                <a:solidFill>
                  <a:srgbClr val="404040"/>
                </a:solidFill>
              </a:rPr>
              <a:t> </a:t>
            </a:r>
            <a:r>
              <a:rPr lang="ru-RU" sz="2000" dirty="0" smtClean="0">
                <a:solidFill>
                  <a:srgbClr val="404040"/>
                </a:solidFill>
              </a:rPr>
              <a:t>срабатывает </a:t>
            </a:r>
            <a:r>
              <a:rPr lang="ru-RU" sz="2000" b="1" dirty="0" smtClean="0">
                <a:solidFill>
                  <a:srgbClr val="404040"/>
                </a:solidFill>
              </a:rPr>
              <a:t>при отпускании мыши</a:t>
            </a:r>
          </a:p>
          <a:p>
            <a:pPr algn="ctr"/>
            <a:endParaRPr lang="ru-RU" sz="2000" dirty="0">
              <a:solidFill>
                <a:srgbClr val="404040"/>
              </a:solidFill>
            </a:endParaRPr>
          </a:p>
          <a:p>
            <a:pPr algn="ctr"/>
            <a:r>
              <a:rPr lang="en-US" sz="2000" dirty="0" err="1" smtClean="0">
                <a:solidFill>
                  <a:srgbClr val="404040"/>
                </a:solidFill>
              </a:rPr>
              <a:t>oninput</a:t>
            </a:r>
            <a:r>
              <a:rPr lang="en-US" sz="2000" dirty="0" smtClean="0">
                <a:solidFill>
                  <a:srgbClr val="404040"/>
                </a:solidFill>
              </a:rPr>
              <a:t> – </a:t>
            </a:r>
            <a:r>
              <a:rPr lang="ru-RU" sz="2000" b="1" dirty="0" smtClean="0">
                <a:solidFill>
                  <a:srgbClr val="404040"/>
                </a:solidFill>
              </a:rPr>
              <a:t>при перемещении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5809969" y="5310390"/>
            <a:ext cx="2991129" cy="306339"/>
          </a:xfrm>
          <a:prstGeom prst="rect">
            <a:avLst/>
          </a:prstGeom>
          <a:noFill/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404040"/>
              </a:solidFill>
            </a:endParaRPr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8571346" y="3627852"/>
            <a:ext cx="9236" cy="1682538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51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34200" y="81182"/>
            <a:ext cx="2193189" cy="2067609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4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.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/>
            </a:r>
            <a:b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событие </a:t>
            </a:r>
            <a:r>
              <a:rPr lang="en-US" sz="2400" cap="al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onchange</a:t>
            </a:r>
            <a:r>
              <a:rPr lang="en-US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и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radio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393352" y="1829337"/>
            <a:ext cx="1274883" cy="1289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78691"/>
            <a:ext cx="6857134" cy="648720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265" y="3889121"/>
            <a:ext cx="2530174" cy="277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07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" y="213731"/>
            <a:ext cx="7046144" cy="645376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73838" y="381000"/>
            <a:ext cx="2375375" cy="1651000"/>
          </a:xfrm>
          <a:solidFill>
            <a:srgbClr val="B1D581"/>
          </a:solidFill>
        </p:spPr>
        <p:txBody>
          <a:bodyPr>
            <a:normAutofit fontScale="90000"/>
          </a:bodyPr>
          <a:lstStyle/>
          <a:p>
            <a:pPr algn="ctr"/>
            <a:r>
              <a:rPr lang="ru-RU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пример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5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.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b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событие </a:t>
            </a:r>
            <a:r>
              <a:rPr lang="en-US" sz="2400" cap="al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onchange</a:t>
            </a:r>
            <a:r>
              <a:rPr lang="en-US" sz="2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и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checkbox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77" y="2513918"/>
            <a:ext cx="3835774" cy="133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688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239" y="78691"/>
            <a:ext cx="8404859" cy="554355"/>
          </a:xfrm>
        </p:spPr>
        <p:txBody>
          <a:bodyPr>
            <a:normAutofit/>
          </a:bodyPr>
          <a:lstStyle/>
          <a:p>
            <a:pPr algn="ctr"/>
            <a:r>
              <a:rPr lang="ru-RU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вспомогательная функция </a:t>
            </a:r>
            <a:r>
              <a:rPr lang="en-US" sz="2400" cap="all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console.log()</a:t>
            </a:r>
            <a:endParaRPr lang="ru-RU" sz="2400" cap="all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40164" y="571852"/>
            <a:ext cx="8351519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658" y="841807"/>
            <a:ext cx="2893615" cy="579913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08" y="2678545"/>
            <a:ext cx="8210375" cy="2641599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860863" y="778107"/>
            <a:ext cx="2700744" cy="17528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404040"/>
                </a:solidFill>
              </a:rPr>
              <a:t>console.log()</a:t>
            </a:r>
          </a:p>
          <a:p>
            <a:pPr algn="ctr"/>
            <a:r>
              <a:rPr lang="ru-RU" sz="2000" dirty="0" smtClean="0">
                <a:solidFill>
                  <a:srgbClr val="404040"/>
                </a:solidFill>
              </a:rPr>
              <a:t>можно использовать при отладке или изучении программы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034769" y="3546764"/>
            <a:ext cx="3103496" cy="295563"/>
          </a:xfrm>
          <a:prstGeom prst="rect">
            <a:avLst/>
          </a:prstGeom>
          <a:noFill/>
          <a:ln w="381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404040"/>
              </a:solidFill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3943927" y="2529245"/>
            <a:ext cx="0" cy="1017519"/>
          </a:xfrm>
          <a:prstGeom prst="line">
            <a:avLst/>
          </a:prstGeom>
          <a:ln w="38100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270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0"/>
            <a:ext cx="8404859" cy="668752"/>
          </a:xfrm>
        </p:spPr>
        <p:txBody>
          <a:bodyPr>
            <a:normAutofit/>
          </a:bodyPr>
          <a:lstStyle/>
          <a:p>
            <a:pPr algn="ctr"/>
            <a:r>
              <a:rPr lang="ru-RU" sz="30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практическое задание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33202" y="538403"/>
            <a:ext cx="8053597" cy="13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312420" y="754380"/>
            <a:ext cx="8747760" cy="594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indent="-742950" algn="ctr">
              <a:buAutoNum type="arabicPeriod"/>
            </a:pPr>
            <a:r>
              <a:rPr lang="ru-RU" sz="3600" b="1" dirty="0" smtClean="0">
                <a:solidFill>
                  <a:srgbClr val="0070C0"/>
                </a:solidFill>
              </a:rPr>
              <a:t>Реализуйте любые два из </a:t>
            </a:r>
          </a:p>
          <a:p>
            <a:pPr algn="ctr"/>
            <a:r>
              <a:rPr lang="ru-RU" sz="3600" b="1" dirty="0" smtClean="0">
                <a:solidFill>
                  <a:srgbClr val="0070C0"/>
                </a:solidFill>
              </a:rPr>
              <a:t>примеров на выбор</a:t>
            </a:r>
          </a:p>
          <a:p>
            <a:pPr marL="742950" indent="-742950" algn="ctr">
              <a:buAutoNum type="arabicPeriod"/>
            </a:pPr>
            <a:endParaRPr lang="ru-RU" sz="3600" b="1" dirty="0">
              <a:solidFill>
                <a:srgbClr val="0070C0"/>
              </a:solidFill>
            </a:endParaRPr>
          </a:p>
          <a:p>
            <a:pPr marL="742950" indent="-742950" algn="ctr">
              <a:buAutoNum type="arabicPeriod"/>
            </a:pPr>
            <a:endParaRPr lang="ru-RU" b="1" dirty="0">
              <a:solidFill>
                <a:srgbClr val="0070C0"/>
              </a:solidFill>
            </a:endParaRPr>
          </a:p>
          <a:p>
            <a:pPr algn="ctr"/>
            <a:endParaRPr lang="ru-RU" dirty="0">
              <a:solidFill>
                <a:srgbClr val="404040"/>
              </a:solidFill>
            </a:endParaRPr>
          </a:p>
          <a:p>
            <a:r>
              <a:rPr lang="ru-RU" dirty="0" smtClean="0">
                <a:solidFill>
                  <a:srgbClr val="404040"/>
                </a:solidFill>
              </a:rPr>
              <a:t> </a:t>
            </a:r>
            <a:endParaRPr lang="ru-RU" dirty="0">
              <a:solidFill>
                <a:srgbClr val="404040"/>
              </a:solidFill>
            </a:endParaRPr>
          </a:p>
          <a:p>
            <a:pPr marL="514350" indent="-514350">
              <a:buAutoNum type="arabicPeriod"/>
            </a:pP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504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760" y="-112493"/>
            <a:ext cx="8404859" cy="1324415"/>
          </a:xfrm>
        </p:spPr>
        <p:txBody>
          <a:bodyPr>
            <a:normAutofit/>
          </a:bodyPr>
          <a:lstStyle/>
          <a:p>
            <a:pPr algn="ctr"/>
            <a:r>
              <a:rPr lang="ru-RU" sz="30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Документация и </a:t>
            </a:r>
            <a:br>
              <a:rPr lang="ru-RU" sz="30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30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справочные материалы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41390" y="1012587"/>
            <a:ext cx="8053597" cy="13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20073" y="1315844"/>
            <a:ext cx="8950036" cy="53973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b="1" dirty="0" smtClean="0">
                <a:solidFill>
                  <a:srgbClr val="404040"/>
                </a:solidFill>
              </a:rPr>
              <a:t>Элементы управления в </a:t>
            </a:r>
            <a:r>
              <a:rPr lang="en-US" sz="3200" b="1" dirty="0" smtClean="0">
                <a:solidFill>
                  <a:srgbClr val="404040"/>
                </a:solidFill>
              </a:rPr>
              <a:t>HTML</a:t>
            </a:r>
            <a:r>
              <a:rPr lang="ru-RU" sz="3200" b="1" dirty="0" smtClean="0">
                <a:solidFill>
                  <a:srgbClr val="404040"/>
                </a:solidFill>
              </a:rPr>
              <a:t>5</a:t>
            </a:r>
            <a:endParaRPr lang="ru-RU" sz="3200" b="1" dirty="0">
              <a:solidFill>
                <a:srgbClr val="404040"/>
              </a:solidFill>
            </a:endParaRPr>
          </a:p>
          <a:p>
            <a:r>
              <a:rPr lang="en-US" sz="3200" dirty="0" smtClean="0">
                <a:solidFill>
                  <a:srgbClr val="404040"/>
                </a:solidFill>
                <a:hlinkClick r:id="rId2"/>
              </a:rPr>
              <a:t>developer.mozilla.org/</a:t>
            </a:r>
            <a:r>
              <a:rPr lang="en-US" sz="3200" dirty="0" err="1" smtClean="0">
                <a:solidFill>
                  <a:srgbClr val="404040"/>
                </a:solidFill>
                <a:hlinkClick r:id="rId2"/>
              </a:rPr>
              <a:t>en</a:t>
            </a:r>
            <a:r>
              <a:rPr lang="en-US" sz="3200" dirty="0" smtClean="0">
                <a:solidFill>
                  <a:srgbClr val="404040"/>
                </a:solidFill>
                <a:hlinkClick r:id="rId2"/>
              </a:rPr>
              <a:t>-US/docs/Learn/Forms/HTML5_input_types</a:t>
            </a:r>
            <a:endParaRPr lang="ru-RU" sz="3200" dirty="0" smtClean="0">
              <a:solidFill>
                <a:srgbClr val="404040"/>
              </a:solidFill>
            </a:endParaRPr>
          </a:p>
          <a:p>
            <a:endParaRPr lang="ru-RU" sz="3200" b="1" dirty="0" smtClean="0">
              <a:solidFill>
                <a:srgbClr val="404040"/>
              </a:solidFill>
            </a:endParaRPr>
          </a:p>
          <a:p>
            <a:r>
              <a:rPr lang="ru-RU" sz="3200" b="1" dirty="0" smtClean="0">
                <a:solidFill>
                  <a:srgbClr val="404040"/>
                </a:solidFill>
              </a:rPr>
              <a:t>Пример использования </a:t>
            </a:r>
            <a:r>
              <a:rPr lang="en-US" sz="3200" b="1" dirty="0" smtClean="0">
                <a:solidFill>
                  <a:srgbClr val="404040"/>
                </a:solidFill>
              </a:rPr>
              <a:t>Range</a:t>
            </a:r>
            <a:endParaRPr lang="ru-RU" sz="3200" b="1" dirty="0">
              <a:solidFill>
                <a:srgbClr val="404040"/>
              </a:solidFill>
            </a:endParaRPr>
          </a:p>
          <a:p>
            <a:r>
              <a:rPr lang="en-US" sz="3200" dirty="0" smtClean="0">
                <a:solidFill>
                  <a:srgbClr val="404040"/>
                </a:solidFill>
                <a:hlinkClick r:id="rId3"/>
              </a:rPr>
              <a:t>developer.mozilla.org/</a:t>
            </a:r>
            <a:r>
              <a:rPr lang="en-US" sz="3200" dirty="0" err="1" smtClean="0">
                <a:solidFill>
                  <a:srgbClr val="404040"/>
                </a:solidFill>
                <a:hlinkClick r:id="rId3"/>
              </a:rPr>
              <a:t>ru</a:t>
            </a:r>
            <a:r>
              <a:rPr lang="en-US" sz="3200" dirty="0" smtClean="0">
                <a:solidFill>
                  <a:srgbClr val="404040"/>
                </a:solidFill>
                <a:hlinkClick r:id="rId3"/>
              </a:rPr>
              <a:t>/docs/Web/HTML/Element/Input/range</a:t>
            </a:r>
            <a:endParaRPr lang="en-US" sz="3200" dirty="0" smtClean="0">
              <a:solidFill>
                <a:srgbClr val="404040"/>
              </a:solidFill>
            </a:endParaRPr>
          </a:p>
          <a:p>
            <a:endParaRPr lang="en-US" sz="3200" b="1" dirty="0" smtClean="0">
              <a:solidFill>
                <a:srgbClr val="404040"/>
              </a:solidFill>
            </a:endParaRPr>
          </a:p>
          <a:p>
            <a:r>
              <a:rPr lang="ru-RU" sz="3200" b="1" dirty="0" smtClean="0">
                <a:solidFill>
                  <a:srgbClr val="404040"/>
                </a:solidFill>
              </a:rPr>
              <a:t>Событие </a:t>
            </a:r>
            <a:r>
              <a:rPr lang="en-US" sz="3200" b="1" dirty="0" err="1" smtClean="0">
                <a:solidFill>
                  <a:srgbClr val="404040"/>
                </a:solidFill>
              </a:rPr>
              <a:t>onchange</a:t>
            </a:r>
            <a:endParaRPr lang="en-US" sz="3200" b="1" dirty="0">
              <a:solidFill>
                <a:srgbClr val="404040"/>
              </a:solidFill>
            </a:endParaRPr>
          </a:p>
          <a:p>
            <a:r>
              <a:rPr lang="en-US" sz="3200" dirty="0" smtClean="0">
                <a:solidFill>
                  <a:srgbClr val="404040"/>
                </a:solidFill>
                <a:hlinkClick r:id="rId4"/>
              </a:rPr>
              <a:t>w3schools.com/</a:t>
            </a:r>
            <a:r>
              <a:rPr lang="en-US" sz="3200" dirty="0" err="1" smtClean="0">
                <a:solidFill>
                  <a:srgbClr val="404040"/>
                </a:solidFill>
                <a:hlinkClick r:id="rId4"/>
              </a:rPr>
              <a:t>jsref</a:t>
            </a:r>
            <a:r>
              <a:rPr lang="en-US" sz="3200" dirty="0" smtClean="0">
                <a:solidFill>
                  <a:srgbClr val="404040"/>
                </a:solidFill>
                <a:hlinkClick r:id="rId4"/>
              </a:rPr>
              <a:t>/event_onchange.asp</a:t>
            </a:r>
            <a:endParaRPr lang="en-US" sz="3200" dirty="0">
              <a:solidFill>
                <a:srgbClr val="40404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02899" y="1508170"/>
            <a:ext cx="77095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>
              <a:spcAft>
                <a:spcPts val="1200"/>
              </a:spcAft>
              <a:buFont typeface="+mj-lt"/>
              <a:buAutoNum type="arabicPeriod"/>
            </a:pPr>
            <a:endParaRPr lang="ru-RU" sz="2200" dirty="0">
              <a:solidFill>
                <a:schemeClr val="accent6">
                  <a:lumMod val="75000"/>
                </a:schemeClr>
              </a:solidFill>
            </a:endParaRPr>
          </a:p>
          <a:p>
            <a:pPr marL="358775" indent="-358775">
              <a:spcAft>
                <a:spcPts val="1200"/>
              </a:spcAft>
              <a:buFont typeface="+mj-lt"/>
              <a:buAutoNum type="arabicPeriod"/>
            </a:pPr>
            <a:endParaRPr lang="en-US" sz="28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569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13358" y="464820"/>
            <a:ext cx="5169622" cy="5966460"/>
          </a:xfrm>
          <a:prstGeom prst="rect">
            <a:avLst/>
          </a:prstGeom>
          <a:solidFill>
            <a:srgbClr val="89CF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6279" y="217905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Спасибо за внимание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225969" y="3091298"/>
            <a:ext cx="5227320" cy="1223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 rot="811255">
            <a:off x="7726031" y="1802830"/>
            <a:ext cx="867545" cy="255454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sz="16000" dirty="0">
                <a:solidFill>
                  <a:srgbClr val="F2F2F2"/>
                </a:solidFill>
                <a:latin typeface="Arial Black" panose="020B0A040201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80207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4803</TotalTime>
  <Words>184</Words>
  <Application>Microsoft Office PowerPoint</Application>
  <PresentationFormat>Экран (4:3)</PresentationFormat>
  <Paragraphs>45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Aharoni</vt:lpstr>
      <vt:lpstr>Arial</vt:lpstr>
      <vt:lpstr>Arial Black</vt:lpstr>
      <vt:lpstr>Calibri</vt:lpstr>
      <vt:lpstr>Calibri Light</vt:lpstr>
      <vt:lpstr>Тема Office</vt:lpstr>
      <vt:lpstr> JavaScript  Пестунов Андрей Игоревич заведующий кафедрой информационных технологий     Лекция 1.2. JavaScript и элементы управления   </vt:lpstr>
      <vt:lpstr>обеспечение usability или ux/ui-дизайн</vt:lpstr>
      <vt:lpstr>onclick vs onchange</vt:lpstr>
      <vt:lpstr>пример 1. событие onchange и combobox</vt:lpstr>
      <vt:lpstr>пример 2. событие onchange  и spinner (number)</vt:lpstr>
      <vt:lpstr>пример 3. событие onchange и range</vt:lpstr>
      <vt:lpstr>пример 4. событие onchange и radio</vt:lpstr>
      <vt:lpstr>пример 5.  событие onchange и checkbox</vt:lpstr>
      <vt:lpstr>вспомогательная функция console.log()</vt:lpstr>
      <vt:lpstr>практическое задание</vt:lpstr>
      <vt:lpstr>Документация и  справочные материалы</vt:lpstr>
      <vt:lpstr>Спасибо за внимание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pestunov@gmail.com</dc:creator>
  <cp:lastModifiedBy>Пестунов Андрей Игоревич</cp:lastModifiedBy>
  <cp:revision>1036</cp:revision>
  <dcterms:created xsi:type="dcterms:W3CDTF">2018-10-06T02:43:53Z</dcterms:created>
  <dcterms:modified xsi:type="dcterms:W3CDTF">2021-02-09T00:13:32Z</dcterms:modified>
</cp:coreProperties>
</file>